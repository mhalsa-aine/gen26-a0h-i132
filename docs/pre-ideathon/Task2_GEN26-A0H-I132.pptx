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ambria Bold" charset="1" panose="02040803050406030204"/>
      <p:regular r:id="rId18"/>
    </p:embeddedFont>
    <p:embeddedFont>
      <p:font typeface="Calibri (MS) Bold" charset="1" panose="020F0702030404030204"/>
      <p:regular r:id="rId19"/>
    </p:embeddedFont>
    <p:embeddedFont>
      <p:font typeface="Calibri (MS)" charset="1" panose="020F050202020403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1.jpe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2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13815935" y="-1845697"/>
            <a:ext cx="5567067" cy="4824412"/>
            <a:chOff x="0" y="0"/>
            <a:chExt cx="7422756" cy="64325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22769" cy="6432550"/>
            </a:xfrm>
            <a:custGeom>
              <a:avLst/>
              <a:gdLst/>
              <a:ahLst/>
              <a:cxnLst/>
              <a:rect r="r" b="b" t="t" l="l"/>
              <a:pathLst>
                <a:path h="6432550" w="7422769">
                  <a:moveTo>
                    <a:pt x="0" y="3216275"/>
                  </a:moveTo>
                  <a:lnTo>
                    <a:pt x="1608074" y="0"/>
                  </a:lnTo>
                  <a:lnTo>
                    <a:pt x="5814568" y="0"/>
                  </a:lnTo>
                  <a:lnTo>
                    <a:pt x="7422769" y="3216275"/>
                  </a:lnTo>
                  <a:lnTo>
                    <a:pt x="5814568" y="6432550"/>
                  </a:lnTo>
                  <a:lnTo>
                    <a:pt x="1608074" y="64325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187" t="0" r="-61187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5400000">
            <a:off x="16133277" y="2747962"/>
            <a:ext cx="5567067" cy="4824412"/>
            <a:chOff x="0" y="0"/>
            <a:chExt cx="7422756" cy="64325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22769" cy="6432550"/>
            </a:xfrm>
            <a:custGeom>
              <a:avLst/>
              <a:gdLst/>
              <a:ahLst/>
              <a:cxnLst/>
              <a:rect r="r" b="b" t="t" l="l"/>
              <a:pathLst>
                <a:path h="6432550" w="7422769">
                  <a:moveTo>
                    <a:pt x="0" y="3216275"/>
                  </a:moveTo>
                  <a:lnTo>
                    <a:pt x="1608074" y="0"/>
                  </a:lnTo>
                  <a:lnTo>
                    <a:pt x="5814568" y="0"/>
                  </a:lnTo>
                  <a:lnTo>
                    <a:pt x="7422769" y="3216275"/>
                  </a:lnTo>
                  <a:lnTo>
                    <a:pt x="5814568" y="6432550"/>
                  </a:lnTo>
                  <a:lnTo>
                    <a:pt x="1608074" y="6432550"/>
                  </a:lnTo>
                  <a:close/>
                </a:path>
              </a:pathLst>
            </a:custGeom>
            <a:solidFill>
              <a:srgbClr val="026855">
                <a:alpha val="5882"/>
              </a:srgbClr>
            </a:solid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5400000">
            <a:off x="13815935" y="6896805"/>
            <a:ext cx="5567067" cy="4824412"/>
            <a:chOff x="0" y="0"/>
            <a:chExt cx="7422756" cy="64325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22769" cy="6432550"/>
            </a:xfrm>
            <a:custGeom>
              <a:avLst/>
              <a:gdLst/>
              <a:ahLst/>
              <a:cxnLst/>
              <a:rect r="r" b="b" t="t" l="l"/>
              <a:pathLst>
                <a:path h="6432550" w="7422769">
                  <a:moveTo>
                    <a:pt x="0" y="3216275"/>
                  </a:moveTo>
                  <a:lnTo>
                    <a:pt x="1608074" y="0"/>
                  </a:lnTo>
                  <a:lnTo>
                    <a:pt x="5814568" y="0"/>
                  </a:lnTo>
                  <a:lnTo>
                    <a:pt x="7422769" y="3216275"/>
                  </a:lnTo>
                  <a:lnTo>
                    <a:pt x="5814568" y="6432550"/>
                  </a:lnTo>
                  <a:lnTo>
                    <a:pt x="1608074" y="64325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187" t="0" r="-61187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5400000">
            <a:off x="10485500" y="5473919"/>
            <a:ext cx="871080" cy="754380"/>
            <a:chOff x="0" y="0"/>
            <a:chExt cx="116144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61415" cy="1005840"/>
            </a:xfrm>
            <a:custGeom>
              <a:avLst/>
              <a:gdLst/>
              <a:ahLst/>
              <a:cxnLst/>
              <a:rect r="r" b="b" t="t" l="l"/>
              <a:pathLst>
                <a:path h="1005840" w="1161415">
                  <a:moveTo>
                    <a:pt x="0" y="502920"/>
                  </a:moveTo>
                  <a:lnTo>
                    <a:pt x="251460" y="0"/>
                  </a:lnTo>
                  <a:lnTo>
                    <a:pt x="909955" y="0"/>
                  </a:lnTo>
                  <a:lnTo>
                    <a:pt x="1161415" y="502920"/>
                  </a:lnTo>
                  <a:lnTo>
                    <a:pt x="909955" y="1005840"/>
                  </a:lnTo>
                  <a:lnTo>
                    <a:pt x="251460" y="1005840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5400000">
            <a:off x="16274377" y="2592324"/>
            <a:ext cx="506816" cy="438912"/>
            <a:chOff x="0" y="0"/>
            <a:chExt cx="675754" cy="58521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75767" cy="585216"/>
            </a:xfrm>
            <a:custGeom>
              <a:avLst/>
              <a:gdLst/>
              <a:ahLst/>
              <a:cxnLst/>
              <a:rect r="r" b="b" t="t" l="l"/>
              <a:pathLst>
                <a:path h="585216" w="675767">
                  <a:moveTo>
                    <a:pt x="0" y="292608"/>
                  </a:moveTo>
                  <a:lnTo>
                    <a:pt x="146304" y="0"/>
                  </a:lnTo>
                  <a:lnTo>
                    <a:pt x="529463" y="0"/>
                  </a:lnTo>
                  <a:lnTo>
                    <a:pt x="675767" y="292608"/>
                  </a:lnTo>
                  <a:lnTo>
                    <a:pt x="529463" y="585216"/>
                  </a:lnTo>
                  <a:lnTo>
                    <a:pt x="146304" y="585216"/>
                  </a:lnTo>
                  <a:close/>
                </a:path>
              </a:pathLst>
            </a:custGeom>
            <a:solidFill>
              <a:srgbClr val="7AC143">
                <a:alpha val="48627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5400000">
            <a:off x="10980095" y="2366010"/>
            <a:ext cx="6414335" cy="5554980"/>
            <a:chOff x="0" y="0"/>
            <a:chExt cx="8552447" cy="7406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552434" cy="7406640"/>
            </a:xfrm>
            <a:custGeom>
              <a:avLst/>
              <a:gdLst/>
              <a:ahLst/>
              <a:cxnLst/>
              <a:rect r="r" b="b" t="t" l="l"/>
              <a:pathLst>
                <a:path h="7406640" w="8552434">
                  <a:moveTo>
                    <a:pt x="0" y="3703320"/>
                  </a:moveTo>
                  <a:lnTo>
                    <a:pt x="1851660" y="0"/>
                  </a:lnTo>
                  <a:lnTo>
                    <a:pt x="6700774" y="0"/>
                  </a:lnTo>
                  <a:lnTo>
                    <a:pt x="8552434" y="3703320"/>
                  </a:lnTo>
                  <a:lnTo>
                    <a:pt x="6700774" y="7406640"/>
                  </a:lnTo>
                  <a:lnTo>
                    <a:pt x="1851660" y="7406640"/>
                  </a:lnTo>
                  <a:close/>
                </a:path>
              </a:pathLst>
            </a:custGeom>
            <a:solidFill>
              <a:srgbClr val="026855">
                <a:alpha val="20000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5400000">
            <a:off x="10684715" y="7186613"/>
            <a:ext cx="1295600" cy="1125855"/>
            <a:chOff x="0" y="0"/>
            <a:chExt cx="1727467" cy="15011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27454" cy="1501140"/>
            </a:xfrm>
            <a:custGeom>
              <a:avLst/>
              <a:gdLst/>
              <a:ahLst/>
              <a:cxnLst/>
              <a:rect r="r" b="b" t="t" l="l"/>
              <a:pathLst>
                <a:path h="1501140" w="1727454">
                  <a:moveTo>
                    <a:pt x="0" y="750570"/>
                  </a:moveTo>
                  <a:lnTo>
                    <a:pt x="375285" y="0"/>
                  </a:lnTo>
                  <a:lnTo>
                    <a:pt x="1352169" y="0"/>
                  </a:lnTo>
                  <a:lnTo>
                    <a:pt x="1727454" y="750570"/>
                  </a:lnTo>
                  <a:lnTo>
                    <a:pt x="1352169" y="1501140"/>
                  </a:lnTo>
                  <a:lnTo>
                    <a:pt x="375285" y="15011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94" t="0" r="-61494" b="0"/>
              </a:stretch>
            </a:blipFill>
            <a:ln w="28575" cap="sq">
              <a:solidFill>
                <a:srgbClr val="7AC143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5400000">
            <a:off x="11387069" y="2714625"/>
            <a:ext cx="5600405" cy="4857750"/>
            <a:chOff x="0" y="0"/>
            <a:chExt cx="7467206" cy="6477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467219" cy="6477000"/>
            </a:xfrm>
            <a:custGeom>
              <a:avLst/>
              <a:gdLst/>
              <a:ahLst/>
              <a:cxnLst/>
              <a:rect r="r" b="b" t="t" l="l"/>
              <a:pathLst>
                <a:path h="6477000" w="7467219">
                  <a:moveTo>
                    <a:pt x="0" y="3238500"/>
                  </a:moveTo>
                  <a:lnTo>
                    <a:pt x="1619250" y="0"/>
                  </a:lnTo>
                  <a:lnTo>
                    <a:pt x="5847969" y="0"/>
                  </a:lnTo>
                  <a:lnTo>
                    <a:pt x="7467219" y="3238500"/>
                  </a:lnTo>
                  <a:lnTo>
                    <a:pt x="5847969" y="6477000"/>
                  </a:lnTo>
                  <a:lnTo>
                    <a:pt x="1619250" y="6477000"/>
                  </a:lnTo>
                  <a:close/>
                </a:path>
              </a:pathLst>
            </a:custGeom>
            <a:solidFill>
              <a:srgbClr val="FFFFFF"/>
            </a:solidFill>
            <a:ln w="57150" cap="sq">
              <a:solidFill>
                <a:srgbClr val="7AC143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2731614" y="3394710"/>
            <a:ext cx="2688222" cy="3497580"/>
            <a:chOff x="0" y="0"/>
            <a:chExt cx="3584296" cy="4663440"/>
          </a:xfrm>
        </p:grpSpPr>
        <p:sp>
          <p:nvSpPr>
            <p:cNvPr name="Freeform 19" id="19" descr="Genesis logo"/>
            <p:cNvSpPr/>
            <p:nvPr/>
          </p:nvSpPr>
          <p:spPr>
            <a:xfrm flipH="false" flipV="false" rot="0">
              <a:off x="0" y="0"/>
              <a:ext cx="3584321" cy="4663440"/>
            </a:xfrm>
            <a:custGeom>
              <a:avLst/>
              <a:gdLst/>
              <a:ahLst/>
              <a:cxnLst/>
              <a:rect r="r" b="b" t="t" l="l"/>
              <a:pathLst>
                <a:path h="4663440" w="3584321">
                  <a:moveTo>
                    <a:pt x="0" y="0"/>
                  </a:moveTo>
                  <a:lnTo>
                    <a:pt x="3584321" y="0"/>
                  </a:lnTo>
                  <a:lnTo>
                    <a:pt x="3584321" y="4663440"/>
                  </a:lnTo>
                  <a:lnTo>
                    <a:pt x="0" y="466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279249" y="234272"/>
            <a:ext cx="8503920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8"/>
              </a:lnSpc>
            </a:pPr>
            <a:r>
              <a:rPr lang="en-US" b="true" sz="8100" spc="299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GENESIS</a:t>
            </a:r>
          </a:p>
          <a:p>
            <a:pPr algn="l">
              <a:lnSpc>
                <a:spcPts val="8748"/>
              </a:lnSpc>
            </a:pPr>
            <a:r>
              <a:rPr lang="en-US" b="true" sz="8100" spc="299">
                <a:solidFill>
                  <a:srgbClr val="7AC143"/>
                </a:solidFill>
                <a:latin typeface="Cambria Bold"/>
                <a:ea typeface="Cambria Bold"/>
                <a:cs typeface="Cambria Bold"/>
                <a:sym typeface="Cambria Bold"/>
              </a:rPr>
              <a:t>IDEATHON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279249" y="3065188"/>
            <a:ext cx="3178492" cy="599885"/>
            <a:chOff x="0" y="0"/>
            <a:chExt cx="4237990" cy="79984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237990" cy="799846"/>
            </a:xfrm>
            <a:custGeom>
              <a:avLst/>
              <a:gdLst/>
              <a:ahLst/>
              <a:cxnLst/>
              <a:rect r="r" b="b" t="t" l="l"/>
              <a:pathLst>
                <a:path h="799846" w="4237990">
                  <a:moveTo>
                    <a:pt x="0" y="399923"/>
                  </a:moveTo>
                  <a:cubicBezTo>
                    <a:pt x="0" y="179070"/>
                    <a:pt x="179070" y="0"/>
                    <a:pt x="399923" y="0"/>
                  </a:cubicBezTo>
                  <a:lnTo>
                    <a:pt x="3838067" y="0"/>
                  </a:lnTo>
                  <a:cubicBezTo>
                    <a:pt x="4058920" y="0"/>
                    <a:pt x="4237990" y="179070"/>
                    <a:pt x="4237990" y="399923"/>
                  </a:cubicBezTo>
                  <a:cubicBezTo>
                    <a:pt x="4237990" y="620776"/>
                    <a:pt x="4058920" y="799846"/>
                    <a:pt x="3838067" y="799846"/>
                  </a:cubicBezTo>
                  <a:lnTo>
                    <a:pt x="399923" y="799846"/>
                  </a:lnTo>
                  <a:cubicBezTo>
                    <a:pt x="179070" y="799846"/>
                    <a:pt x="0" y="620776"/>
                    <a:pt x="0" y="399923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241" r="0" b="-53241"/>
              </a:stretch>
            </a:blipFill>
            <a:ln w="23812" cap="sq">
              <a:solidFill>
                <a:srgbClr val="7AC143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4237990" cy="847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40"/>
                </a:lnSpc>
              </a:pPr>
              <a:r>
                <a:rPr lang="en-US" b="true" sz="1950" spc="44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&amp; DOMAIN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716280" y="3744228"/>
            <a:ext cx="10204760" cy="5791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Team Name – JASMIN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Team Leader’s Name      – MHALSA PADMAKUMAR (CB.AI.U4AIM25052)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Team Member 1 Name  – SHIZA CKV (CB.AI.U4AIM25037)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Team Member 2 Name  – ANWAIKA SANVI P T (CB.AI.U4AIM25044)</a:t>
            </a: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Team Member 3 Name  – JOSHIKA CD (CB.AI.U4AIM25014)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Selected Domain – DOMAIN 6 : Healthcare, Biotechnology &amp; Human Well-being</a:t>
            </a:r>
          </a:p>
          <a:p>
            <a:pPr algn="l">
              <a:lnSpc>
                <a:spcPts val="3240"/>
              </a:lnSpc>
            </a:pPr>
          </a:p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Problem Statement – A non-invasive, closed-loop smart patch to safely guide throat movements during swallowing attempts in stroke survivors, preventing fatal choking</a:t>
            </a:r>
          </a:p>
        </p:txBody>
      </p:sp>
      <p:grpSp>
        <p:nvGrpSpPr>
          <p:cNvPr name="Group 25" id="25"/>
          <p:cNvGrpSpPr/>
          <p:nvPr/>
        </p:nvGrpSpPr>
        <p:grpSpPr>
          <a:xfrm rot="5400000">
            <a:off x="17211530" y="9306070"/>
            <a:ext cx="713131" cy="617592"/>
            <a:chOff x="0" y="0"/>
            <a:chExt cx="1161440" cy="10058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61415" cy="1005840"/>
            </a:xfrm>
            <a:custGeom>
              <a:avLst/>
              <a:gdLst/>
              <a:ahLst/>
              <a:cxnLst/>
              <a:rect r="r" b="b" t="t" l="l"/>
              <a:pathLst>
                <a:path h="1005840" w="1161415">
                  <a:moveTo>
                    <a:pt x="0" y="502920"/>
                  </a:moveTo>
                  <a:lnTo>
                    <a:pt x="251460" y="0"/>
                  </a:lnTo>
                  <a:lnTo>
                    <a:pt x="909955" y="0"/>
                  </a:lnTo>
                  <a:lnTo>
                    <a:pt x="1161415" y="502920"/>
                  </a:lnTo>
                  <a:lnTo>
                    <a:pt x="909955" y="1005840"/>
                  </a:lnTo>
                  <a:lnTo>
                    <a:pt x="251460" y="1005840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7482809" y="9357707"/>
            <a:ext cx="170574" cy="457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9"/>
              </a:lnSpc>
              <a:spcBef>
                <a:spcPct val="0"/>
              </a:spcBef>
            </a:pPr>
            <a:r>
              <a:rPr lang="en-US" sz="26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16280" y="6468327"/>
            <a:ext cx="10204760" cy="457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9"/>
              </a:lnSpc>
              <a:spcBef>
                <a:spcPct val="0"/>
              </a:spcBef>
            </a:pPr>
            <a:r>
              <a:rPr lang="en-US" sz="26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Team ID   -  </a:t>
            </a:r>
            <a:r>
              <a:rPr lang="en-US" sz="264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GEN26-A0H-I132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828308" y="417675"/>
            <a:ext cx="1248727" cy="1248727"/>
            <a:chOff x="0" y="0"/>
            <a:chExt cx="1664970" cy="16649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4970" cy="1664970"/>
            </a:xfrm>
            <a:custGeom>
              <a:avLst/>
              <a:gdLst/>
              <a:ahLst/>
              <a:cxnLst/>
              <a:rect r="r" b="b" t="t" l="l"/>
              <a:pathLst>
                <a:path h="1664970" w="166497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1442974" y="0"/>
                  </a:lnTo>
                  <a:cubicBezTo>
                    <a:pt x="1565529" y="0"/>
                    <a:pt x="1664970" y="99441"/>
                    <a:pt x="1664970" y="221996"/>
                  </a:cubicBezTo>
                  <a:lnTo>
                    <a:pt x="1664970" y="1442974"/>
                  </a:lnTo>
                  <a:cubicBezTo>
                    <a:pt x="1664970" y="1565529"/>
                    <a:pt x="1565529" y="1664970"/>
                    <a:pt x="144297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7052069" y="520831"/>
            <a:ext cx="801195" cy="1042416"/>
            <a:chOff x="0" y="0"/>
            <a:chExt cx="1068260" cy="1389888"/>
          </a:xfrm>
        </p:grpSpPr>
        <p:sp>
          <p:nvSpPr>
            <p:cNvPr name="Freeform 5" id="5" descr="Genesis logo"/>
            <p:cNvSpPr/>
            <p:nvPr/>
          </p:nvSpPr>
          <p:spPr>
            <a:xfrm flipH="false" flipV="false" rot="0">
              <a:off x="0" y="0"/>
              <a:ext cx="1068324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324">
                  <a:moveTo>
                    <a:pt x="0" y="0"/>
                  </a:moveTo>
                  <a:lnTo>
                    <a:pt x="1068324" y="0"/>
                  </a:lnTo>
                  <a:lnTo>
                    <a:pt x="1068324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32620"/>
            <a:ext cx="18287543" cy="754380"/>
            <a:chOff x="0" y="0"/>
            <a:chExt cx="24383390" cy="1005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336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52B3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429000" y="9532620"/>
            <a:ext cx="11429543" cy="754380"/>
            <a:chOff x="0" y="0"/>
            <a:chExt cx="1523939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39391" cy="1005840"/>
            </a:xfrm>
            <a:custGeom>
              <a:avLst/>
              <a:gdLst/>
              <a:ahLst/>
              <a:cxnLst/>
              <a:rect r="r" b="b" t="t" l="l"/>
              <a:pathLst>
                <a:path h="1005840" w="15239391">
                  <a:moveTo>
                    <a:pt x="0" y="0"/>
                  </a:moveTo>
                  <a:lnTo>
                    <a:pt x="15239391" y="0"/>
                  </a:lnTo>
                  <a:lnTo>
                    <a:pt x="1523939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45216" r="0" b="-24521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523939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150">
                  <a:solidFill>
                    <a:srgbClr val="D3E6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Genesis Ideathon 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00190" y="211935"/>
            <a:ext cx="3923347" cy="1248727"/>
            <a:chOff x="0" y="0"/>
            <a:chExt cx="5231130" cy="16649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231130" cy="1664970"/>
            </a:xfrm>
            <a:custGeom>
              <a:avLst/>
              <a:gdLst/>
              <a:ahLst/>
              <a:cxnLst/>
              <a:rect r="r" b="b" t="t" l="l"/>
              <a:pathLst>
                <a:path h="1664970" w="523113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5009134" y="0"/>
                  </a:lnTo>
                  <a:cubicBezTo>
                    <a:pt x="5131689" y="0"/>
                    <a:pt x="5231130" y="99441"/>
                    <a:pt x="5231130" y="221996"/>
                  </a:cubicBezTo>
                  <a:lnTo>
                    <a:pt x="5231130" y="1442974"/>
                  </a:lnTo>
                  <a:cubicBezTo>
                    <a:pt x="5231130" y="1565529"/>
                    <a:pt x="5131689" y="1664970"/>
                    <a:pt x="500913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419646" y="417675"/>
            <a:ext cx="960692" cy="837248"/>
            <a:chOff x="0" y="0"/>
            <a:chExt cx="1280922" cy="11163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80922" cy="1116330"/>
            </a:xfrm>
            <a:custGeom>
              <a:avLst/>
              <a:gdLst/>
              <a:ahLst/>
              <a:cxnLst/>
              <a:rect r="r" b="b" t="t" l="l"/>
              <a:pathLst>
                <a:path h="1116330" w="1280922">
                  <a:moveTo>
                    <a:pt x="0" y="558165"/>
                  </a:moveTo>
                  <a:lnTo>
                    <a:pt x="279019" y="0"/>
                  </a:lnTo>
                  <a:lnTo>
                    <a:pt x="1001776" y="0"/>
                  </a:lnTo>
                  <a:lnTo>
                    <a:pt x="1280922" y="558165"/>
                  </a:lnTo>
                  <a:lnTo>
                    <a:pt x="1001776" y="1116330"/>
                  </a:lnTo>
                  <a:lnTo>
                    <a:pt x="279019" y="1116330"/>
                  </a:lnTo>
                  <a:close/>
                </a:path>
              </a:pathLst>
            </a:custGeom>
            <a:solidFill>
              <a:srgbClr val="F3F8F5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25672" y="561979"/>
            <a:ext cx="548640" cy="548640"/>
            <a:chOff x="0" y="0"/>
            <a:chExt cx="731520" cy="731520"/>
          </a:xfrm>
        </p:grpSpPr>
        <p:sp>
          <p:nvSpPr>
            <p:cNvPr name="Freeform 18" id="18" descr="Team icon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578934" y="315091"/>
            <a:ext cx="2441448" cy="1042416"/>
            <a:chOff x="0" y="0"/>
            <a:chExt cx="3255264" cy="138988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255264" cy="1389888"/>
            </a:xfrm>
            <a:custGeom>
              <a:avLst/>
              <a:gdLst/>
              <a:ahLst/>
              <a:cxnLst/>
              <a:rect r="r" b="b" t="t" l="l"/>
              <a:pathLst>
                <a:path h="1389888" w="3255264">
                  <a:moveTo>
                    <a:pt x="0" y="0"/>
                  </a:moveTo>
                  <a:lnTo>
                    <a:pt x="3255264" y="0"/>
                  </a:lnTo>
                  <a:lnTo>
                    <a:pt x="3255264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781" t="0" r="-4781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3255264" cy="1418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449">
                  <a:solidFill>
                    <a:srgbClr val="5B6F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</a:t>
              </a:r>
            </a:p>
            <a:p>
              <a:pPr algn="l">
                <a:lnSpc>
                  <a:spcPts val="2700"/>
                </a:lnSpc>
              </a:pPr>
              <a:r>
                <a:rPr lang="en-US" b="true" sz="2250" spc="749">
                  <a:solidFill>
                    <a:srgbClr val="0268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JASMIN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99992" y="1666402"/>
            <a:ext cx="685800" cy="593903"/>
            <a:chOff x="0" y="0"/>
            <a:chExt cx="914400" cy="7918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37152" y="1756928"/>
            <a:ext cx="411480" cy="411480"/>
            <a:chOff x="0" y="0"/>
            <a:chExt cx="548640" cy="548640"/>
          </a:xfrm>
        </p:grpSpPr>
        <p:sp>
          <p:nvSpPr>
            <p:cNvPr name="Freeform 25" id="25" descr="Lightbulb icon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2595094" y="1715037"/>
            <a:ext cx="4717778" cy="861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9"/>
              </a:lnSpc>
            </a:pPr>
            <a:r>
              <a:rPr lang="en-US" sz="2649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What exactly needs to be solved?</a:t>
            </a:r>
          </a:p>
          <a:p>
            <a:pPr algn="l">
              <a:lnSpc>
                <a:spcPts val="3179"/>
              </a:lnSpc>
            </a:pPr>
          </a:p>
        </p:txBody>
      </p:sp>
      <p:grpSp>
        <p:nvGrpSpPr>
          <p:cNvPr name="Group 27" id="27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14400" cy="791870"/>
            </a:xfrm>
            <a:custGeom>
              <a:avLst/>
              <a:gdLst/>
              <a:ahLst/>
              <a:cxnLst/>
              <a:rect r="r" b="b" t="t" l="l"/>
              <a:pathLst>
                <a:path h="79187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91870"/>
                  </a:lnTo>
                  <a:lnTo>
                    <a:pt x="0" y="7918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1110" t="0" r="-61110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914400" cy="820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52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>
            <a:off x="9450652" y="1756928"/>
            <a:ext cx="0" cy="662126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1" id="31"/>
          <p:cNvSpPr txBox="true"/>
          <p:nvPr/>
        </p:nvSpPr>
        <p:spPr>
          <a:xfrm rot="0">
            <a:off x="11999531" y="1743612"/>
            <a:ext cx="4624172" cy="431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6"/>
              </a:lnSpc>
              <a:spcBef>
                <a:spcPct val="0"/>
              </a:spcBef>
            </a:pPr>
            <a:r>
              <a:rPr lang="en-US" sz="2700" spc="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Why is it imp</a:t>
            </a:r>
            <a:r>
              <a:rPr lang="en-US" sz="2700" spc="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ortant right now?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80338" y="2547590"/>
            <a:ext cx="7521960" cy="1657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2133" indent="-286066" lvl="1">
              <a:lnSpc>
                <a:spcPts val="3179"/>
              </a:lnSpc>
              <a:buFont typeface="Arial"/>
              <a:buChar char="•"/>
            </a:pPr>
            <a:r>
              <a:rPr lang="en-US" sz="2649">
                <a:solidFill>
                  <a:srgbClr val="052B35"/>
                </a:solidFill>
                <a:latin typeface="Calibri (MS)"/>
                <a:ea typeface="Calibri (MS)"/>
                <a:cs typeface="Calibri (MS)"/>
                <a:sym typeface="Calibri (MS)"/>
              </a:rPr>
              <a:t>A damage in the nervous system can weaken laryngeal muscles that is responsible for swallowing process, leaving the airway vulnerable to food or fluids entering into the lungs.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140765" y="2519015"/>
            <a:ext cx="7433546" cy="445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2133" indent="-286066" lvl="1">
              <a:lnSpc>
                <a:spcPts val="3179"/>
              </a:lnSpc>
              <a:buFont typeface="Arial"/>
              <a:buChar char="•"/>
            </a:pPr>
            <a:r>
              <a:rPr lang="en-US" sz="2649">
                <a:solidFill>
                  <a:srgbClr val="052B35"/>
                </a:solidFill>
                <a:latin typeface="Calibri (MS)"/>
                <a:ea typeface="Calibri (MS)"/>
                <a:cs typeface="Calibri (MS)"/>
                <a:sym typeface="Calibri (MS)"/>
              </a:rPr>
              <a:t>Many stroke survivors struggle to swallow safely, and even small amounts of food or water can accidentally enter the lungs, leading to serious complications. </a:t>
            </a:r>
          </a:p>
          <a:p>
            <a:pPr algn="l">
              <a:lnSpc>
                <a:spcPts val="3179"/>
              </a:lnSpc>
            </a:pPr>
          </a:p>
          <a:p>
            <a:pPr algn="l" marL="572133" indent="-286066" lvl="1">
              <a:lnSpc>
                <a:spcPts val="3179"/>
              </a:lnSpc>
              <a:buFont typeface="Arial"/>
              <a:buChar char="•"/>
            </a:pPr>
            <a:r>
              <a:rPr lang="en-US" sz="2649">
                <a:solidFill>
                  <a:srgbClr val="052B35"/>
                </a:solidFill>
                <a:latin typeface="Calibri (MS)"/>
                <a:ea typeface="Calibri (MS)"/>
                <a:cs typeface="Calibri (MS)"/>
                <a:sym typeface="Calibri (MS)"/>
              </a:rPr>
              <a:t>Stroke patients needs someone beside them every time they eat or drink, turning a simple daily activity into a caregiving task.</a:t>
            </a:r>
          </a:p>
          <a:p>
            <a:pPr algn="l">
              <a:lnSpc>
                <a:spcPts val="3179"/>
              </a:lnSpc>
            </a:pPr>
          </a:p>
          <a:p>
            <a:pPr algn="l" marL="572133" indent="-286066" lvl="1">
              <a:lnSpc>
                <a:spcPts val="3179"/>
              </a:lnSpc>
              <a:buFont typeface="Arial"/>
              <a:buChar char="•"/>
            </a:pPr>
            <a:r>
              <a:rPr lang="en-US" sz="2649">
                <a:solidFill>
                  <a:srgbClr val="052B35"/>
                </a:solidFill>
                <a:latin typeface="Calibri (MS)"/>
                <a:ea typeface="Calibri (MS)"/>
                <a:cs typeface="Calibri (MS)"/>
                <a:sym typeface="Calibri (MS)"/>
              </a:rPr>
              <a:t>A short clinical assessment cannot capture how a patient swallows during every meal at home.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48632" y="4585808"/>
            <a:ext cx="7521960" cy="1257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2133" indent="-286066" lvl="1">
              <a:lnSpc>
                <a:spcPts val="3179"/>
              </a:lnSpc>
              <a:buFont typeface="Arial"/>
              <a:buChar char="•"/>
            </a:pPr>
            <a:r>
              <a:rPr lang="en-US" sz="2649">
                <a:solidFill>
                  <a:srgbClr val="052B35"/>
                </a:solidFill>
                <a:latin typeface="Calibri (MS)"/>
                <a:ea typeface="Calibri (MS)"/>
                <a:cs typeface="Calibri (MS)"/>
                <a:sym typeface="Calibri (MS)"/>
              </a:rPr>
              <a:t>Severe dysphagia would make patients dependent  on feeding tubes, limiting their nutrition and hydration, which could affect their quality of life.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48632" y="6320790"/>
            <a:ext cx="7521960" cy="2057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2133" indent="-286066" lvl="1">
              <a:lnSpc>
                <a:spcPts val="3179"/>
              </a:lnSpc>
              <a:buFont typeface="Arial"/>
              <a:buChar char="•"/>
            </a:pPr>
            <a:r>
              <a:rPr lang="en-US" sz="2649">
                <a:solidFill>
                  <a:srgbClr val="052B35"/>
                </a:solidFill>
                <a:latin typeface="Calibri (MS)"/>
                <a:ea typeface="Calibri (MS)"/>
                <a:cs typeface="Calibri (MS)"/>
                <a:sym typeface="Calibri (MS)"/>
              </a:rPr>
              <a:t>Current rehabilitation methods primarily focuses on training and therapy. There is a need for a system that would detect when a patient attempts to swallow and provide timely assistance during the process of swallowing.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60159" y="472916"/>
            <a:ext cx="1248727" cy="1248727"/>
            <a:chOff x="0" y="0"/>
            <a:chExt cx="1664970" cy="16649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4970" cy="1664970"/>
            </a:xfrm>
            <a:custGeom>
              <a:avLst/>
              <a:gdLst/>
              <a:ahLst/>
              <a:cxnLst/>
              <a:rect r="r" b="b" t="t" l="l"/>
              <a:pathLst>
                <a:path h="1664970" w="166497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1442974" y="0"/>
                  </a:lnTo>
                  <a:cubicBezTo>
                    <a:pt x="1565529" y="0"/>
                    <a:pt x="1664970" y="99441"/>
                    <a:pt x="1664970" y="221996"/>
                  </a:cubicBezTo>
                  <a:lnTo>
                    <a:pt x="1664970" y="1442974"/>
                  </a:lnTo>
                  <a:cubicBezTo>
                    <a:pt x="1664970" y="1565529"/>
                    <a:pt x="1565529" y="1664970"/>
                    <a:pt x="144297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583920" y="576072"/>
            <a:ext cx="801195" cy="1042416"/>
            <a:chOff x="0" y="0"/>
            <a:chExt cx="1068260" cy="1389888"/>
          </a:xfrm>
        </p:grpSpPr>
        <p:sp>
          <p:nvSpPr>
            <p:cNvPr name="Freeform 5" id="5" descr="Genesis logo"/>
            <p:cNvSpPr/>
            <p:nvPr/>
          </p:nvSpPr>
          <p:spPr>
            <a:xfrm flipH="false" flipV="false" rot="0">
              <a:off x="0" y="0"/>
              <a:ext cx="1068324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324">
                  <a:moveTo>
                    <a:pt x="0" y="0"/>
                  </a:moveTo>
                  <a:lnTo>
                    <a:pt x="1068324" y="0"/>
                  </a:lnTo>
                  <a:lnTo>
                    <a:pt x="1068324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32620"/>
            <a:ext cx="18287543" cy="754380"/>
            <a:chOff x="0" y="0"/>
            <a:chExt cx="24383390" cy="1005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336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52B3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429000" y="9532620"/>
            <a:ext cx="11429543" cy="754380"/>
            <a:chOff x="0" y="0"/>
            <a:chExt cx="1523939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39391" cy="1005840"/>
            </a:xfrm>
            <a:custGeom>
              <a:avLst/>
              <a:gdLst/>
              <a:ahLst/>
              <a:cxnLst/>
              <a:rect r="r" b="b" t="t" l="l"/>
              <a:pathLst>
                <a:path h="1005840" w="15239391">
                  <a:moveTo>
                    <a:pt x="0" y="0"/>
                  </a:moveTo>
                  <a:lnTo>
                    <a:pt x="15239391" y="0"/>
                  </a:lnTo>
                  <a:lnTo>
                    <a:pt x="1523939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216" r="0" b="-24521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523939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150">
                  <a:solidFill>
                    <a:srgbClr val="D3E6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Genesis Ideathon 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15973073" y="6735947"/>
            <a:ext cx="2161927" cy="1875473"/>
            <a:chOff x="0" y="0"/>
            <a:chExt cx="2882570" cy="25006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82519" cy="2500630"/>
            </a:xfrm>
            <a:custGeom>
              <a:avLst/>
              <a:gdLst/>
              <a:ahLst/>
              <a:cxnLst/>
              <a:rect r="r" b="b" t="t" l="l"/>
              <a:pathLst>
                <a:path h="2500630" w="2882519">
                  <a:moveTo>
                    <a:pt x="0" y="1250315"/>
                  </a:moveTo>
                  <a:lnTo>
                    <a:pt x="625094" y="0"/>
                  </a:lnTo>
                  <a:lnTo>
                    <a:pt x="2257425" y="0"/>
                  </a:lnTo>
                  <a:lnTo>
                    <a:pt x="2882519" y="1250315"/>
                  </a:lnTo>
                  <a:lnTo>
                    <a:pt x="2257425" y="2500630"/>
                  </a:lnTo>
                  <a:lnTo>
                    <a:pt x="625094" y="25006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04" t="0" r="-613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14781624" y="8270324"/>
            <a:ext cx="1449219" cy="1258252"/>
            <a:chOff x="0" y="0"/>
            <a:chExt cx="1932292" cy="16776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5400000">
            <a:off x="17289632" y="5238983"/>
            <a:ext cx="1449219" cy="1258252"/>
            <a:chOff x="0" y="0"/>
            <a:chExt cx="1932292" cy="16776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4869180" y="480060"/>
            <a:ext cx="11247120" cy="1234440"/>
            <a:chOff x="0" y="0"/>
            <a:chExt cx="14996160" cy="1645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996161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499616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 spc="150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WHO IS AFFECTED?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78656" y="472916"/>
            <a:ext cx="3923347" cy="1248727"/>
            <a:chOff x="0" y="0"/>
            <a:chExt cx="5231130" cy="16649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31130" cy="1664970"/>
            </a:xfrm>
            <a:custGeom>
              <a:avLst/>
              <a:gdLst/>
              <a:ahLst/>
              <a:cxnLst/>
              <a:rect r="r" b="b" t="t" l="l"/>
              <a:pathLst>
                <a:path h="1664970" w="523113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5009134" y="0"/>
                  </a:lnTo>
                  <a:cubicBezTo>
                    <a:pt x="5131689" y="0"/>
                    <a:pt x="5231130" y="99441"/>
                    <a:pt x="5231130" y="221996"/>
                  </a:cubicBezTo>
                  <a:lnTo>
                    <a:pt x="5231130" y="1442974"/>
                  </a:lnTo>
                  <a:cubicBezTo>
                    <a:pt x="5231130" y="1565529"/>
                    <a:pt x="5131689" y="1664970"/>
                    <a:pt x="500913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98112" y="678656"/>
            <a:ext cx="960692" cy="837248"/>
            <a:chOff x="0" y="0"/>
            <a:chExt cx="1280922" cy="11163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922" cy="1116330"/>
            </a:xfrm>
            <a:custGeom>
              <a:avLst/>
              <a:gdLst/>
              <a:ahLst/>
              <a:cxnLst/>
              <a:rect r="r" b="b" t="t" l="l"/>
              <a:pathLst>
                <a:path h="1116330" w="1280922">
                  <a:moveTo>
                    <a:pt x="0" y="558165"/>
                  </a:moveTo>
                  <a:lnTo>
                    <a:pt x="279019" y="0"/>
                  </a:lnTo>
                  <a:lnTo>
                    <a:pt x="1001776" y="0"/>
                  </a:lnTo>
                  <a:lnTo>
                    <a:pt x="1280922" y="558165"/>
                  </a:lnTo>
                  <a:lnTo>
                    <a:pt x="1001776" y="1116330"/>
                  </a:lnTo>
                  <a:lnTo>
                    <a:pt x="279019" y="1116330"/>
                  </a:lnTo>
                  <a:close/>
                </a:path>
              </a:pathLst>
            </a:custGeom>
            <a:solidFill>
              <a:srgbClr val="F3F8F5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04138" y="822960"/>
            <a:ext cx="548640" cy="548640"/>
            <a:chOff x="0" y="0"/>
            <a:chExt cx="731520" cy="731520"/>
          </a:xfrm>
        </p:grpSpPr>
        <p:sp>
          <p:nvSpPr>
            <p:cNvPr name="Freeform 27" id="27" descr="Team icon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057400" y="576072"/>
            <a:ext cx="2441448" cy="1042416"/>
            <a:chOff x="0" y="0"/>
            <a:chExt cx="3255264" cy="13898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55264" cy="1389888"/>
            </a:xfrm>
            <a:custGeom>
              <a:avLst/>
              <a:gdLst/>
              <a:ahLst/>
              <a:cxnLst/>
              <a:rect r="r" b="b" t="t" l="l"/>
              <a:pathLst>
                <a:path h="1389888" w="3255264">
                  <a:moveTo>
                    <a:pt x="0" y="0"/>
                  </a:moveTo>
                  <a:lnTo>
                    <a:pt x="3255264" y="0"/>
                  </a:lnTo>
                  <a:lnTo>
                    <a:pt x="3255264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81" t="0" r="-478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255264" cy="1418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449">
                  <a:solidFill>
                    <a:srgbClr val="5B6F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</a:t>
              </a:r>
            </a:p>
            <a:p>
              <a:pPr algn="l">
                <a:lnSpc>
                  <a:spcPts val="2700"/>
                </a:lnSpc>
              </a:pPr>
              <a:r>
                <a:rPr lang="en-US" b="true" sz="2250" spc="749">
                  <a:solidFill>
                    <a:srgbClr val="0268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JASMIN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1721644"/>
            <a:ext cx="685800" cy="593903"/>
            <a:chOff x="0" y="0"/>
            <a:chExt cx="914400" cy="7918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60120" y="1812855"/>
            <a:ext cx="411480" cy="411480"/>
            <a:chOff x="0" y="0"/>
            <a:chExt cx="548640" cy="548640"/>
          </a:xfrm>
        </p:grpSpPr>
        <p:sp>
          <p:nvSpPr>
            <p:cNvPr name="Freeform 34" id="34" descr="Lightbulb icon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33560" y="1618488"/>
            <a:ext cx="14401800" cy="754380"/>
            <a:chOff x="0" y="0"/>
            <a:chExt cx="19202400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202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920240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945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Target users, stakeholders, beneficiaries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822960" y="2420493"/>
            <a:ext cx="15636240" cy="466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Primary users / target group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14400" cy="791870"/>
            </a:xfrm>
            <a:custGeom>
              <a:avLst/>
              <a:gdLst/>
              <a:ahLst/>
              <a:cxnLst/>
              <a:rect r="r" b="b" t="t" l="l"/>
              <a:pathLst>
                <a:path h="79187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91870"/>
                  </a:lnTo>
                  <a:lnTo>
                    <a:pt x="0" y="7918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110" t="0" r="-61110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914400" cy="820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52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6203684" y="2420493"/>
            <a:ext cx="3288605" cy="466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Secondary stakeholders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319404" y="2420493"/>
            <a:ext cx="5356985" cy="466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Who benefits if the problem is solved?</a:t>
            </a:r>
          </a:p>
        </p:txBody>
      </p:sp>
      <p:sp>
        <p:nvSpPr>
          <p:cNvPr name="AutoShape 44" id="44"/>
          <p:cNvSpPr/>
          <p:nvPr/>
        </p:nvSpPr>
        <p:spPr>
          <a:xfrm>
            <a:off x="5994134" y="2407210"/>
            <a:ext cx="0" cy="649224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>
            <a:off x="11029985" y="2407210"/>
            <a:ext cx="0" cy="649224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6" id="46"/>
          <p:cNvSpPr txBox="true"/>
          <p:nvPr/>
        </p:nvSpPr>
        <p:spPr>
          <a:xfrm rot="0">
            <a:off x="678656" y="3049176"/>
            <a:ext cx="4869180" cy="1419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2" indent="-248286" lvl="1">
              <a:lnSpc>
                <a:spcPts val="2760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A person who has survied stroke or brain attack and only has an alert mind but is  unable to control  their throat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78656" y="4592226"/>
            <a:ext cx="4837615" cy="1419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2" indent="-248286" lvl="1">
              <a:lnSpc>
                <a:spcPts val="2760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Many patients yearn for normalcy when they are stuck with a tube in their abdominall but they just want a cup of coffee like a normal person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78656" y="6954426"/>
            <a:ext cx="4826301" cy="1419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2" indent="-248286" lvl="1">
              <a:lnSpc>
                <a:spcPts val="2760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Lots of neurodegenerative patients having conditions like Parkinson’s or ALS whose swallowing reflex are fadding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994134" y="2944401"/>
            <a:ext cx="4976469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3" indent="-237491" lvl="1">
              <a:lnSpc>
                <a:spcPts val="2640"/>
              </a:lnSpc>
              <a:spcBef>
                <a:spcPct val="0"/>
              </a:spcBef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Family and Caregivers are constantly worried about patients choking, struggling to manage the feeding tubes and fear of the worser situations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994134" y="4605580"/>
            <a:ext cx="4385216" cy="204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3" indent="-237491" lvl="1">
              <a:lnSpc>
                <a:spcPts val="2640"/>
              </a:lnSpc>
              <a:spcBef>
                <a:spcPct val="0"/>
              </a:spcBef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Speech-Language Pathologists (SLPs) are struggling to detect the silent aspiration and determine whether the patient is swallowing safely which therefore puts them at risk of serious lung infections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014741" y="6959308"/>
            <a:ext cx="4486411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3" indent="-237491" lvl="1">
              <a:lnSpc>
                <a:spcPts val="2640"/>
              </a:lnSpc>
              <a:spcBef>
                <a:spcPct val="0"/>
              </a:spcBef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healthcare workers are constantly burdened by suctioning  and treating recurring , preventable chest infections.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319404" y="2944401"/>
            <a:ext cx="4796896" cy="10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2" indent="-248286" lvl="1">
              <a:lnSpc>
                <a:spcPts val="2760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The patient can regain oral independence and get their tube surgically removed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332208" y="6954426"/>
            <a:ext cx="3645574" cy="1762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2" indent="-248286" lvl="1">
              <a:lnSpc>
                <a:spcPts val="2760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Saves millions of rupees per hospital by eliminating ICU stays and readmissions caused by aspiration pneumonia.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332208" y="4563651"/>
            <a:ext cx="3645574" cy="1419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2" indent="-248286" lvl="1">
              <a:lnSpc>
                <a:spcPts val="2760"/>
              </a:lnSpc>
              <a:spcBef>
                <a:spcPct val="0"/>
              </a:spcBef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Finacial strain and surgical complications decreases which the family had endured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60159" y="472916"/>
            <a:ext cx="1248727" cy="1248727"/>
            <a:chOff x="0" y="0"/>
            <a:chExt cx="1664970" cy="16649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4970" cy="1664970"/>
            </a:xfrm>
            <a:custGeom>
              <a:avLst/>
              <a:gdLst/>
              <a:ahLst/>
              <a:cxnLst/>
              <a:rect r="r" b="b" t="t" l="l"/>
              <a:pathLst>
                <a:path h="1664970" w="166497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1442974" y="0"/>
                  </a:lnTo>
                  <a:cubicBezTo>
                    <a:pt x="1565529" y="0"/>
                    <a:pt x="1664970" y="99441"/>
                    <a:pt x="1664970" y="221996"/>
                  </a:cubicBezTo>
                  <a:lnTo>
                    <a:pt x="1664970" y="1442974"/>
                  </a:lnTo>
                  <a:cubicBezTo>
                    <a:pt x="1664970" y="1565529"/>
                    <a:pt x="1565529" y="1664970"/>
                    <a:pt x="144297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583920" y="576072"/>
            <a:ext cx="801195" cy="1042416"/>
            <a:chOff x="0" y="0"/>
            <a:chExt cx="1068260" cy="1389888"/>
          </a:xfrm>
        </p:grpSpPr>
        <p:sp>
          <p:nvSpPr>
            <p:cNvPr name="Freeform 5" id="5" descr="Genesis logo"/>
            <p:cNvSpPr/>
            <p:nvPr/>
          </p:nvSpPr>
          <p:spPr>
            <a:xfrm flipH="false" flipV="false" rot="0">
              <a:off x="0" y="0"/>
              <a:ext cx="1068324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324">
                  <a:moveTo>
                    <a:pt x="0" y="0"/>
                  </a:moveTo>
                  <a:lnTo>
                    <a:pt x="1068324" y="0"/>
                  </a:lnTo>
                  <a:lnTo>
                    <a:pt x="1068324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32620"/>
            <a:ext cx="18287543" cy="754380"/>
            <a:chOff x="0" y="0"/>
            <a:chExt cx="24383390" cy="1005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336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52B3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429000" y="9532620"/>
            <a:ext cx="11429543" cy="754380"/>
            <a:chOff x="0" y="0"/>
            <a:chExt cx="1523939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39391" cy="1005840"/>
            </a:xfrm>
            <a:custGeom>
              <a:avLst/>
              <a:gdLst/>
              <a:ahLst/>
              <a:cxnLst/>
              <a:rect r="r" b="b" t="t" l="l"/>
              <a:pathLst>
                <a:path h="1005840" w="15239391">
                  <a:moveTo>
                    <a:pt x="0" y="0"/>
                  </a:moveTo>
                  <a:lnTo>
                    <a:pt x="15239391" y="0"/>
                  </a:lnTo>
                  <a:lnTo>
                    <a:pt x="1523939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216" r="0" b="-24521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523939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150">
                  <a:solidFill>
                    <a:srgbClr val="D3E6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Genesis Ideathon 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869180" y="480060"/>
            <a:ext cx="11247120" cy="1234440"/>
            <a:chOff x="0" y="0"/>
            <a:chExt cx="14996160" cy="16459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996161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499616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 spc="150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CURRENT SITUATION &amp; CONTEXT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78656" y="472916"/>
            <a:ext cx="3923347" cy="1248727"/>
            <a:chOff x="0" y="0"/>
            <a:chExt cx="5231130" cy="166497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31130" cy="1664970"/>
            </a:xfrm>
            <a:custGeom>
              <a:avLst/>
              <a:gdLst/>
              <a:ahLst/>
              <a:cxnLst/>
              <a:rect r="r" b="b" t="t" l="l"/>
              <a:pathLst>
                <a:path h="1664970" w="523113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5009134" y="0"/>
                  </a:lnTo>
                  <a:cubicBezTo>
                    <a:pt x="5131689" y="0"/>
                    <a:pt x="5231130" y="99441"/>
                    <a:pt x="5231130" y="221996"/>
                  </a:cubicBezTo>
                  <a:lnTo>
                    <a:pt x="5231130" y="1442974"/>
                  </a:lnTo>
                  <a:cubicBezTo>
                    <a:pt x="5231130" y="1565529"/>
                    <a:pt x="5131689" y="1664970"/>
                    <a:pt x="500913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898112" y="678656"/>
            <a:ext cx="960692" cy="837248"/>
            <a:chOff x="0" y="0"/>
            <a:chExt cx="1280922" cy="111633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80922" cy="1116330"/>
            </a:xfrm>
            <a:custGeom>
              <a:avLst/>
              <a:gdLst/>
              <a:ahLst/>
              <a:cxnLst/>
              <a:rect r="r" b="b" t="t" l="l"/>
              <a:pathLst>
                <a:path h="1116330" w="1280922">
                  <a:moveTo>
                    <a:pt x="0" y="558165"/>
                  </a:moveTo>
                  <a:lnTo>
                    <a:pt x="279019" y="0"/>
                  </a:lnTo>
                  <a:lnTo>
                    <a:pt x="1001776" y="0"/>
                  </a:lnTo>
                  <a:lnTo>
                    <a:pt x="1280922" y="558165"/>
                  </a:lnTo>
                  <a:lnTo>
                    <a:pt x="1001776" y="1116330"/>
                  </a:lnTo>
                  <a:lnTo>
                    <a:pt x="279019" y="1116330"/>
                  </a:lnTo>
                  <a:close/>
                </a:path>
              </a:pathLst>
            </a:custGeom>
            <a:solidFill>
              <a:srgbClr val="F3F8F5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04138" y="822960"/>
            <a:ext cx="548640" cy="548640"/>
            <a:chOff x="0" y="0"/>
            <a:chExt cx="731520" cy="731520"/>
          </a:xfrm>
        </p:grpSpPr>
        <p:sp>
          <p:nvSpPr>
            <p:cNvPr name="Freeform 21" id="21" descr="Team icon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2057400" y="576072"/>
            <a:ext cx="2441448" cy="1042416"/>
            <a:chOff x="0" y="0"/>
            <a:chExt cx="3255264" cy="138988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255264" cy="1389888"/>
            </a:xfrm>
            <a:custGeom>
              <a:avLst/>
              <a:gdLst/>
              <a:ahLst/>
              <a:cxnLst/>
              <a:rect r="r" b="b" t="t" l="l"/>
              <a:pathLst>
                <a:path h="1389888" w="3255264">
                  <a:moveTo>
                    <a:pt x="0" y="0"/>
                  </a:moveTo>
                  <a:lnTo>
                    <a:pt x="3255264" y="0"/>
                  </a:lnTo>
                  <a:lnTo>
                    <a:pt x="3255264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81" t="0" r="-4781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3255264" cy="1418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449">
                  <a:solidFill>
                    <a:srgbClr val="5B6F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</a:t>
              </a:r>
            </a:p>
            <a:p>
              <a:pPr algn="l">
                <a:lnSpc>
                  <a:spcPts val="2700"/>
                </a:lnSpc>
              </a:pPr>
              <a:r>
                <a:rPr lang="en-US" b="true" sz="2250" spc="749">
                  <a:solidFill>
                    <a:srgbClr val="0268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JASMIN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98112" y="1817370"/>
            <a:ext cx="685800" cy="593903"/>
            <a:chOff x="0" y="0"/>
            <a:chExt cx="914400" cy="79187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35272" y="1907896"/>
            <a:ext cx="411480" cy="411480"/>
            <a:chOff x="0" y="0"/>
            <a:chExt cx="548640" cy="548640"/>
          </a:xfrm>
        </p:grpSpPr>
        <p:sp>
          <p:nvSpPr>
            <p:cNvPr name="Freeform 28" id="28" descr="Lightbulb icon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652778" y="1737131"/>
            <a:ext cx="14401800" cy="754380"/>
            <a:chOff x="0" y="0"/>
            <a:chExt cx="19202400" cy="10058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202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920240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945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Existing scenario, background and how things work today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14400" cy="791870"/>
            </a:xfrm>
            <a:custGeom>
              <a:avLst/>
              <a:gdLst/>
              <a:ahLst/>
              <a:cxnLst/>
              <a:rect r="r" b="b" t="t" l="l"/>
              <a:pathLst>
                <a:path h="79187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91870"/>
                  </a:lnTo>
                  <a:lnTo>
                    <a:pt x="0" y="7918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110" t="0" r="-61110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914400" cy="820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sp>
        <p:nvSpPr>
          <p:cNvPr name="AutoShape 35" id="35"/>
          <p:cNvSpPr/>
          <p:nvPr/>
        </p:nvSpPr>
        <p:spPr>
          <a:xfrm>
            <a:off x="6027211" y="2696566"/>
            <a:ext cx="0" cy="571586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11144639" y="2675572"/>
            <a:ext cx="0" cy="571586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7" id="37"/>
          <p:cNvSpPr txBox="true"/>
          <p:nvPr/>
        </p:nvSpPr>
        <p:spPr>
          <a:xfrm rot="0">
            <a:off x="5874811" y="3332797"/>
            <a:ext cx="5117428" cy="365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2133" indent="-286066" lvl="1">
              <a:lnSpc>
                <a:spcPts val="3179"/>
              </a:lnSpc>
              <a:buFont typeface="Arial"/>
              <a:buChar char="•"/>
            </a:pPr>
            <a:r>
              <a:rPr lang="en-US" sz="26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11–50%</a:t>
            </a:r>
            <a:r>
              <a:rPr lang="en-US" sz="26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may continue to experience dysphagia six months after a stroke.</a:t>
            </a:r>
          </a:p>
          <a:p>
            <a:pPr algn="l">
              <a:lnSpc>
                <a:spcPts val="3179"/>
              </a:lnSpc>
            </a:pPr>
          </a:p>
          <a:p>
            <a:pPr algn="l" marL="572133" indent="-286066" lvl="1">
              <a:lnSpc>
                <a:spcPts val="3179"/>
              </a:lnSpc>
              <a:buFont typeface="Arial"/>
              <a:buChar char="•"/>
            </a:pPr>
            <a:r>
              <a:rPr lang="en-US" sz="26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Dysphagia increases the risk of aspiration pneumonia, dehydration, malnutrition and poor recovery outcomes.</a:t>
            </a:r>
          </a:p>
          <a:p>
            <a:pPr algn="l">
              <a:lnSpc>
                <a:spcPts val="3179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624527" y="2653436"/>
            <a:ext cx="478872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Existing Scenario and Background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676636" y="2618422"/>
            <a:ext cx="4934728" cy="459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9"/>
              </a:lnSpc>
            </a:pPr>
            <a:r>
              <a:rPr lang="en-US" sz="26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Relev</a:t>
            </a:r>
            <a:r>
              <a:rPr lang="en-US" sz="26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ant Data &amp; Facts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173006" y="2618422"/>
            <a:ext cx="2482065" cy="459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9"/>
              </a:lnSpc>
            </a:pPr>
            <a:r>
              <a:rPr lang="en-US" sz="2649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Curren</a:t>
            </a:r>
            <a:r>
              <a:rPr lang="en-US" sz="2649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t Workflow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2972" y="3332797"/>
            <a:ext cx="5711839" cy="325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2133" indent="-286066" lvl="1">
              <a:lnSpc>
                <a:spcPts val="3179"/>
              </a:lnSpc>
              <a:buFont typeface="Arial"/>
              <a:buChar char="•"/>
            </a:pPr>
            <a:r>
              <a:rPr lang="en-US" sz="26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When swallowing is unsafe alternative feeding methods such as PEG feeding tube may be required</a:t>
            </a:r>
          </a:p>
          <a:p>
            <a:pPr algn="l">
              <a:lnSpc>
                <a:spcPts val="3179"/>
              </a:lnSpc>
            </a:pPr>
          </a:p>
          <a:p>
            <a:pPr algn="l" marL="572133" indent="-286066" lvl="1">
              <a:lnSpc>
                <a:spcPts val="3179"/>
              </a:lnSpc>
              <a:buFont typeface="Arial"/>
              <a:buChar char="•"/>
            </a:pPr>
            <a:r>
              <a:rPr lang="en-US" sz="26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Patients often depend on caregivers for feeding and require rehabilitation to improve swallowing function</a:t>
            </a:r>
          </a:p>
          <a:p>
            <a:pPr algn="l">
              <a:lnSpc>
                <a:spcPts val="3179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11125589" y="3332797"/>
            <a:ext cx="7050622" cy="645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2133" indent="-286066" lvl="1">
              <a:lnSpc>
                <a:spcPts val="3179"/>
              </a:lnSpc>
              <a:buAutoNum type="arabicPeriod" startAt="1"/>
            </a:pPr>
            <a:r>
              <a:rPr lang="en-US" sz="26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Stroke Event: Brain</a:t>
            </a:r>
            <a:r>
              <a:rPr lang="en-US" sz="26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damage disrupts swallowing signals.</a:t>
            </a:r>
          </a:p>
          <a:p>
            <a:pPr algn="l" marL="572133" indent="-286066" lvl="1">
              <a:lnSpc>
                <a:spcPts val="3179"/>
              </a:lnSpc>
              <a:buAutoNum type="arabicPeriod" startAt="1"/>
            </a:pPr>
            <a:r>
              <a:rPr lang="en-US" sz="26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Assessment: Screening identifies swallowing difficulties.</a:t>
            </a:r>
          </a:p>
          <a:p>
            <a:pPr algn="l" marL="572133" indent="-286066" lvl="1">
              <a:lnSpc>
                <a:spcPts val="3179"/>
              </a:lnSpc>
              <a:buAutoNum type="arabicPeriod" startAt="1"/>
            </a:pPr>
            <a:r>
              <a:rPr lang="en-US" sz="26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Safety Measures: Oral intake may be restricted; feeding tubes may be required.</a:t>
            </a:r>
          </a:p>
          <a:p>
            <a:pPr algn="l" marL="572133" indent="-286066" lvl="1">
              <a:lnSpc>
                <a:spcPts val="3179"/>
              </a:lnSpc>
              <a:buAutoNum type="arabicPeriod" startAt="1"/>
            </a:pPr>
            <a:r>
              <a:rPr lang="en-US" sz="26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Rehabilitation: Therapists guide swallowing exercises.</a:t>
            </a:r>
          </a:p>
          <a:p>
            <a:pPr algn="l" marL="572133" indent="-286066" lvl="1">
              <a:lnSpc>
                <a:spcPts val="3179"/>
              </a:lnSpc>
              <a:buAutoNum type="arabicPeriod" startAt="1"/>
            </a:pPr>
            <a:r>
              <a:rPr lang="en-US" sz="26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Neck Patch Assistance: Detects swallowing intent and delivers synchronized haptic cues to support throat movement.</a:t>
            </a:r>
          </a:p>
          <a:p>
            <a:pPr algn="l" marL="572133" indent="-286066" lvl="1">
              <a:lnSpc>
                <a:spcPts val="3179"/>
              </a:lnSpc>
              <a:buAutoNum type="arabicPeriod" startAt="1"/>
            </a:pPr>
            <a:r>
              <a:rPr lang="en-US" sz="26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Monitoring: Tracks swallowing activity to support ongoing assessment and rehabilitation.</a:t>
            </a:r>
          </a:p>
          <a:p>
            <a:pPr algn="l">
              <a:lnSpc>
                <a:spcPts val="3179"/>
              </a:lnSpc>
            </a:pPr>
          </a:p>
          <a:p>
            <a:pPr algn="l">
              <a:lnSpc>
                <a:spcPts val="317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34936" y="250222"/>
            <a:ext cx="1248727" cy="1248727"/>
            <a:chOff x="0" y="0"/>
            <a:chExt cx="1664970" cy="16649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4970" cy="1664970"/>
            </a:xfrm>
            <a:custGeom>
              <a:avLst/>
              <a:gdLst/>
              <a:ahLst/>
              <a:cxnLst/>
              <a:rect r="r" b="b" t="t" l="l"/>
              <a:pathLst>
                <a:path h="1664970" w="166497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1442974" y="0"/>
                  </a:lnTo>
                  <a:cubicBezTo>
                    <a:pt x="1565529" y="0"/>
                    <a:pt x="1664970" y="99441"/>
                    <a:pt x="1664970" y="221996"/>
                  </a:cubicBezTo>
                  <a:lnTo>
                    <a:pt x="1664970" y="1442974"/>
                  </a:lnTo>
                  <a:cubicBezTo>
                    <a:pt x="1664970" y="1565529"/>
                    <a:pt x="1565529" y="1664970"/>
                    <a:pt x="144297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858698" y="353377"/>
            <a:ext cx="801195" cy="1042416"/>
            <a:chOff x="0" y="0"/>
            <a:chExt cx="1068260" cy="1389888"/>
          </a:xfrm>
        </p:grpSpPr>
        <p:sp>
          <p:nvSpPr>
            <p:cNvPr name="Freeform 5" id="5" descr="Genesis logo"/>
            <p:cNvSpPr/>
            <p:nvPr/>
          </p:nvSpPr>
          <p:spPr>
            <a:xfrm flipH="false" flipV="false" rot="0">
              <a:off x="0" y="0"/>
              <a:ext cx="1068324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324">
                  <a:moveTo>
                    <a:pt x="0" y="0"/>
                  </a:moveTo>
                  <a:lnTo>
                    <a:pt x="1068324" y="0"/>
                  </a:lnTo>
                  <a:lnTo>
                    <a:pt x="1068324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32620"/>
            <a:ext cx="18287543" cy="754380"/>
            <a:chOff x="0" y="0"/>
            <a:chExt cx="24383390" cy="1005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336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52B3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429000" y="9532620"/>
            <a:ext cx="11429543" cy="754380"/>
            <a:chOff x="0" y="0"/>
            <a:chExt cx="1523939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39391" cy="1005840"/>
            </a:xfrm>
            <a:custGeom>
              <a:avLst/>
              <a:gdLst/>
              <a:ahLst/>
              <a:cxnLst/>
              <a:rect r="r" b="b" t="t" l="l"/>
              <a:pathLst>
                <a:path h="1005840" w="15239391">
                  <a:moveTo>
                    <a:pt x="0" y="0"/>
                  </a:moveTo>
                  <a:lnTo>
                    <a:pt x="15239391" y="0"/>
                  </a:lnTo>
                  <a:lnTo>
                    <a:pt x="1523939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216" r="0" b="-24521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523939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150">
                  <a:solidFill>
                    <a:srgbClr val="D3E6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Genesis Ideathon 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15903559" y="7017544"/>
            <a:ext cx="2161927" cy="1875473"/>
            <a:chOff x="0" y="0"/>
            <a:chExt cx="2882570" cy="25006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82519" cy="2500630"/>
            </a:xfrm>
            <a:custGeom>
              <a:avLst/>
              <a:gdLst/>
              <a:ahLst/>
              <a:cxnLst/>
              <a:rect r="r" b="b" t="t" l="l"/>
              <a:pathLst>
                <a:path h="2500630" w="2882519">
                  <a:moveTo>
                    <a:pt x="0" y="1250315"/>
                  </a:moveTo>
                  <a:lnTo>
                    <a:pt x="625094" y="0"/>
                  </a:lnTo>
                  <a:lnTo>
                    <a:pt x="2257425" y="0"/>
                  </a:lnTo>
                  <a:lnTo>
                    <a:pt x="2882519" y="1250315"/>
                  </a:lnTo>
                  <a:lnTo>
                    <a:pt x="2257425" y="2500630"/>
                  </a:lnTo>
                  <a:lnTo>
                    <a:pt x="625094" y="25006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04" t="0" r="-613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14613988" y="8011954"/>
            <a:ext cx="1449219" cy="1258252"/>
            <a:chOff x="0" y="0"/>
            <a:chExt cx="1932292" cy="16776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5400000">
            <a:off x="17357188" y="5748814"/>
            <a:ext cx="1449219" cy="1258252"/>
            <a:chOff x="0" y="0"/>
            <a:chExt cx="1932292" cy="16776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3520440" y="367665"/>
            <a:ext cx="11247120" cy="1234440"/>
            <a:chOff x="0" y="0"/>
            <a:chExt cx="14996160" cy="1645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996161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499616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 spc="150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KEY CHALLENGES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30681" y="353377"/>
            <a:ext cx="3923347" cy="1248727"/>
            <a:chOff x="0" y="0"/>
            <a:chExt cx="5231130" cy="16649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31130" cy="1664970"/>
            </a:xfrm>
            <a:custGeom>
              <a:avLst/>
              <a:gdLst/>
              <a:ahLst/>
              <a:cxnLst/>
              <a:rect r="r" b="b" t="t" l="l"/>
              <a:pathLst>
                <a:path h="1664970" w="523113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5009134" y="0"/>
                  </a:lnTo>
                  <a:cubicBezTo>
                    <a:pt x="5131689" y="0"/>
                    <a:pt x="5231130" y="99441"/>
                    <a:pt x="5231130" y="221996"/>
                  </a:cubicBezTo>
                  <a:lnTo>
                    <a:pt x="5231130" y="1442974"/>
                  </a:lnTo>
                  <a:cubicBezTo>
                    <a:pt x="5231130" y="1565529"/>
                    <a:pt x="5131689" y="1664970"/>
                    <a:pt x="500913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550137" y="559117"/>
            <a:ext cx="960692" cy="837248"/>
            <a:chOff x="0" y="0"/>
            <a:chExt cx="1280922" cy="11163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922" cy="1116330"/>
            </a:xfrm>
            <a:custGeom>
              <a:avLst/>
              <a:gdLst/>
              <a:ahLst/>
              <a:cxnLst/>
              <a:rect r="r" b="b" t="t" l="l"/>
              <a:pathLst>
                <a:path h="1116330" w="1280922">
                  <a:moveTo>
                    <a:pt x="0" y="558165"/>
                  </a:moveTo>
                  <a:lnTo>
                    <a:pt x="279019" y="0"/>
                  </a:lnTo>
                  <a:lnTo>
                    <a:pt x="1001776" y="0"/>
                  </a:lnTo>
                  <a:lnTo>
                    <a:pt x="1280922" y="558165"/>
                  </a:lnTo>
                  <a:lnTo>
                    <a:pt x="1001776" y="1116330"/>
                  </a:lnTo>
                  <a:lnTo>
                    <a:pt x="279019" y="1116330"/>
                  </a:lnTo>
                  <a:close/>
                </a:path>
              </a:pathLst>
            </a:custGeom>
            <a:solidFill>
              <a:srgbClr val="F3F8F5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756163" y="703421"/>
            <a:ext cx="548640" cy="548640"/>
            <a:chOff x="0" y="0"/>
            <a:chExt cx="731520" cy="731520"/>
          </a:xfrm>
        </p:grpSpPr>
        <p:sp>
          <p:nvSpPr>
            <p:cNvPr name="Freeform 27" id="27" descr="Team icon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709425" y="456533"/>
            <a:ext cx="2441448" cy="1042416"/>
            <a:chOff x="0" y="0"/>
            <a:chExt cx="3255264" cy="13898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55264" cy="1389888"/>
            </a:xfrm>
            <a:custGeom>
              <a:avLst/>
              <a:gdLst/>
              <a:ahLst/>
              <a:cxnLst/>
              <a:rect r="r" b="b" t="t" l="l"/>
              <a:pathLst>
                <a:path h="1389888" w="3255264">
                  <a:moveTo>
                    <a:pt x="0" y="0"/>
                  </a:moveTo>
                  <a:lnTo>
                    <a:pt x="3255264" y="0"/>
                  </a:lnTo>
                  <a:lnTo>
                    <a:pt x="3255264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81" t="0" r="-478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255264" cy="1418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449">
                  <a:solidFill>
                    <a:srgbClr val="5B6F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</a:t>
              </a:r>
            </a:p>
            <a:p>
              <a:pPr algn="l">
                <a:lnSpc>
                  <a:spcPts val="2700"/>
                </a:lnSpc>
              </a:pPr>
              <a:r>
                <a:rPr lang="en-US" b="true" sz="2250" spc="749">
                  <a:solidFill>
                    <a:srgbClr val="0268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JASMIN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12299" y="2001203"/>
            <a:ext cx="685800" cy="593903"/>
            <a:chOff x="0" y="0"/>
            <a:chExt cx="914400" cy="7918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49459" y="2091728"/>
            <a:ext cx="411480" cy="411480"/>
            <a:chOff x="0" y="0"/>
            <a:chExt cx="548640" cy="548640"/>
          </a:xfrm>
        </p:grpSpPr>
        <p:sp>
          <p:nvSpPr>
            <p:cNvPr name="Freeform 34" id="34" descr="Lightbulb icon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644987" y="1932623"/>
            <a:ext cx="14401800" cy="754380"/>
            <a:chOff x="0" y="0"/>
            <a:chExt cx="19202400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202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920240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945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Main difficulties, bottlenecks, root causes and consequences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550137" y="2757730"/>
            <a:ext cx="567545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Main difficulties and bottlenecks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14400" cy="791870"/>
            </a:xfrm>
            <a:custGeom>
              <a:avLst/>
              <a:gdLst/>
              <a:ahLst/>
              <a:cxnLst/>
              <a:rect r="r" b="b" t="t" l="l"/>
              <a:pathLst>
                <a:path h="79187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91870"/>
                  </a:lnTo>
                  <a:lnTo>
                    <a:pt x="0" y="7918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110" t="0" r="-61110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914400" cy="820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52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1953824" y="2757730"/>
            <a:ext cx="5809438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Consequences of leaving them unsolved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7235306" y="2757730"/>
            <a:ext cx="413131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Root causes behind them</a:t>
            </a:r>
          </a:p>
          <a:p>
            <a:pPr algn="l">
              <a:lnSpc>
                <a:spcPts val="3240"/>
              </a:lnSpc>
            </a:pPr>
          </a:p>
        </p:txBody>
      </p:sp>
      <p:sp>
        <p:nvSpPr>
          <p:cNvPr name="AutoShape 44" id="44"/>
          <p:cNvSpPr/>
          <p:nvPr/>
        </p:nvSpPr>
        <p:spPr>
          <a:xfrm>
            <a:off x="6027211" y="2696566"/>
            <a:ext cx="0" cy="571586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>
            <a:off x="11660220" y="2687002"/>
            <a:ext cx="0" cy="571586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6" id="46"/>
          <p:cNvSpPr txBox="true"/>
          <p:nvPr/>
        </p:nvSpPr>
        <p:spPr>
          <a:xfrm rot="0">
            <a:off x="864401" y="3310180"/>
            <a:ext cx="4867535" cy="510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Caregivers would have a difficult time identifying  aspiration, as food or liquids can enter the airway without triggering an identifiable cough.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Timely detection and assistance would be a significant challenge as swallowing requires coordination between muscles and nerves.</a:t>
            </a:r>
          </a:p>
          <a:p>
            <a:pPr algn="l" marL="518160" indent="-259080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For patients recovering form stroke, rehabilitation would require repeated exercises over a long period which would be challenging. 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409948" y="3297470"/>
            <a:ext cx="4867535" cy="510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Stroke related damages to the body can affect the signals coordinating muscles involved in swallowing.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Weakness or poor coordination can delay the upward and forward movements of the hyoid bone and larnyx, compromising airway protection.</a:t>
            </a:r>
          </a:p>
          <a:p>
            <a:pPr algn="l" marL="518160" indent="-259080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Conventional swallowing rehabilitation methods may not provide precise assistance when the patient initiates a swallowing attempt.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955495" y="3284760"/>
            <a:ext cx="4867535" cy="401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Repeated aspiration cases can lead to aspiration pnemonia and other life threatening complications.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Severe swallowing difficulties may lead to dependence on modified diets or feeding tubes to maintain required nutrition and hydration levels.</a:t>
            </a:r>
          </a:p>
          <a:p>
            <a:pPr algn="l" marL="518160" indent="-259080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Difficulty in eating and drinking can affect social life and emotional wellbeing.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60159" y="472916"/>
            <a:ext cx="1248727" cy="1248727"/>
            <a:chOff x="0" y="0"/>
            <a:chExt cx="1664970" cy="16649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4970" cy="1664970"/>
            </a:xfrm>
            <a:custGeom>
              <a:avLst/>
              <a:gdLst/>
              <a:ahLst/>
              <a:cxnLst/>
              <a:rect r="r" b="b" t="t" l="l"/>
              <a:pathLst>
                <a:path h="1664970" w="166497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1442974" y="0"/>
                  </a:lnTo>
                  <a:cubicBezTo>
                    <a:pt x="1565529" y="0"/>
                    <a:pt x="1664970" y="99441"/>
                    <a:pt x="1664970" y="221996"/>
                  </a:cubicBezTo>
                  <a:lnTo>
                    <a:pt x="1664970" y="1442974"/>
                  </a:lnTo>
                  <a:cubicBezTo>
                    <a:pt x="1664970" y="1565529"/>
                    <a:pt x="1565529" y="1664970"/>
                    <a:pt x="144297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583920" y="576072"/>
            <a:ext cx="801195" cy="1042416"/>
            <a:chOff x="0" y="0"/>
            <a:chExt cx="1068260" cy="1389888"/>
          </a:xfrm>
        </p:grpSpPr>
        <p:sp>
          <p:nvSpPr>
            <p:cNvPr name="Freeform 5" id="5" descr="Genesis logo"/>
            <p:cNvSpPr/>
            <p:nvPr/>
          </p:nvSpPr>
          <p:spPr>
            <a:xfrm flipH="false" flipV="false" rot="0">
              <a:off x="0" y="0"/>
              <a:ext cx="1068324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324">
                  <a:moveTo>
                    <a:pt x="0" y="0"/>
                  </a:moveTo>
                  <a:lnTo>
                    <a:pt x="1068324" y="0"/>
                  </a:lnTo>
                  <a:lnTo>
                    <a:pt x="1068324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32620"/>
            <a:ext cx="18287543" cy="754380"/>
            <a:chOff x="0" y="0"/>
            <a:chExt cx="24383390" cy="1005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336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52B3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429000" y="9532620"/>
            <a:ext cx="11429543" cy="754380"/>
            <a:chOff x="0" y="0"/>
            <a:chExt cx="1523939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39391" cy="1005840"/>
            </a:xfrm>
            <a:custGeom>
              <a:avLst/>
              <a:gdLst/>
              <a:ahLst/>
              <a:cxnLst/>
              <a:rect r="r" b="b" t="t" l="l"/>
              <a:pathLst>
                <a:path h="1005840" w="15239391">
                  <a:moveTo>
                    <a:pt x="0" y="0"/>
                  </a:moveTo>
                  <a:lnTo>
                    <a:pt x="15239391" y="0"/>
                  </a:lnTo>
                  <a:lnTo>
                    <a:pt x="1523939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216" r="0" b="-24521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523939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150">
                  <a:solidFill>
                    <a:srgbClr val="D3E6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Genesis Ideathon 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15903559" y="7017544"/>
            <a:ext cx="2161927" cy="1875473"/>
            <a:chOff x="0" y="0"/>
            <a:chExt cx="2882570" cy="25006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82519" cy="2500630"/>
            </a:xfrm>
            <a:custGeom>
              <a:avLst/>
              <a:gdLst/>
              <a:ahLst/>
              <a:cxnLst/>
              <a:rect r="r" b="b" t="t" l="l"/>
              <a:pathLst>
                <a:path h="2500630" w="2882519">
                  <a:moveTo>
                    <a:pt x="0" y="1250315"/>
                  </a:moveTo>
                  <a:lnTo>
                    <a:pt x="625094" y="0"/>
                  </a:lnTo>
                  <a:lnTo>
                    <a:pt x="2257425" y="0"/>
                  </a:lnTo>
                  <a:lnTo>
                    <a:pt x="2882519" y="1250315"/>
                  </a:lnTo>
                  <a:lnTo>
                    <a:pt x="2257425" y="2500630"/>
                  </a:lnTo>
                  <a:lnTo>
                    <a:pt x="625094" y="25006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04" t="0" r="-613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14613988" y="8011954"/>
            <a:ext cx="1449219" cy="1258252"/>
            <a:chOff x="0" y="0"/>
            <a:chExt cx="1932292" cy="16776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5400000">
            <a:off x="17357188" y="5748814"/>
            <a:ext cx="1449219" cy="1258252"/>
            <a:chOff x="0" y="0"/>
            <a:chExt cx="1932292" cy="16776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4869180" y="480060"/>
            <a:ext cx="11247120" cy="1234440"/>
            <a:chOff x="0" y="0"/>
            <a:chExt cx="14996160" cy="1645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996161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499616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 spc="150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EXISTING SOLUTIONS / APPROACHES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78656" y="472916"/>
            <a:ext cx="3923347" cy="1248727"/>
            <a:chOff x="0" y="0"/>
            <a:chExt cx="5231130" cy="16649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31130" cy="1664970"/>
            </a:xfrm>
            <a:custGeom>
              <a:avLst/>
              <a:gdLst/>
              <a:ahLst/>
              <a:cxnLst/>
              <a:rect r="r" b="b" t="t" l="l"/>
              <a:pathLst>
                <a:path h="1664970" w="523113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5009134" y="0"/>
                  </a:lnTo>
                  <a:cubicBezTo>
                    <a:pt x="5131689" y="0"/>
                    <a:pt x="5231130" y="99441"/>
                    <a:pt x="5231130" y="221996"/>
                  </a:cubicBezTo>
                  <a:lnTo>
                    <a:pt x="5231130" y="1442974"/>
                  </a:lnTo>
                  <a:cubicBezTo>
                    <a:pt x="5231130" y="1565529"/>
                    <a:pt x="5131689" y="1664970"/>
                    <a:pt x="500913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98112" y="678656"/>
            <a:ext cx="960692" cy="837248"/>
            <a:chOff x="0" y="0"/>
            <a:chExt cx="1280922" cy="11163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922" cy="1116330"/>
            </a:xfrm>
            <a:custGeom>
              <a:avLst/>
              <a:gdLst/>
              <a:ahLst/>
              <a:cxnLst/>
              <a:rect r="r" b="b" t="t" l="l"/>
              <a:pathLst>
                <a:path h="1116330" w="1280922">
                  <a:moveTo>
                    <a:pt x="0" y="558165"/>
                  </a:moveTo>
                  <a:lnTo>
                    <a:pt x="279019" y="0"/>
                  </a:lnTo>
                  <a:lnTo>
                    <a:pt x="1001776" y="0"/>
                  </a:lnTo>
                  <a:lnTo>
                    <a:pt x="1280922" y="558165"/>
                  </a:lnTo>
                  <a:lnTo>
                    <a:pt x="1001776" y="1116330"/>
                  </a:lnTo>
                  <a:lnTo>
                    <a:pt x="279019" y="1116330"/>
                  </a:lnTo>
                  <a:close/>
                </a:path>
              </a:pathLst>
            </a:custGeom>
            <a:solidFill>
              <a:srgbClr val="F3F8F5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04138" y="822960"/>
            <a:ext cx="548640" cy="548640"/>
            <a:chOff x="0" y="0"/>
            <a:chExt cx="731520" cy="731520"/>
          </a:xfrm>
        </p:grpSpPr>
        <p:sp>
          <p:nvSpPr>
            <p:cNvPr name="Freeform 27" id="27" descr="Team icon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057400" y="576072"/>
            <a:ext cx="2441448" cy="1042416"/>
            <a:chOff x="0" y="0"/>
            <a:chExt cx="3255264" cy="13898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55264" cy="1389888"/>
            </a:xfrm>
            <a:custGeom>
              <a:avLst/>
              <a:gdLst/>
              <a:ahLst/>
              <a:cxnLst/>
              <a:rect r="r" b="b" t="t" l="l"/>
              <a:pathLst>
                <a:path h="1389888" w="3255264">
                  <a:moveTo>
                    <a:pt x="0" y="0"/>
                  </a:moveTo>
                  <a:lnTo>
                    <a:pt x="3255264" y="0"/>
                  </a:lnTo>
                  <a:lnTo>
                    <a:pt x="3255264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81" t="0" r="-478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255264" cy="1418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449">
                  <a:solidFill>
                    <a:srgbClr val="5B6F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</a:t>
              </a:r>
            </a:p>
            <a:p>
              <a:pPr algn="l">
                <a:lnSpc>
                  <a:spcPts val="2700"/>
                </a:lnSpc>
              </a:pPr>
              <a:r>
                <a:rPr lang="en-US" b="true" sz="2250" spc="749">
                  <a:solidFill>
                    <a:srgbClr val="0268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JASMIN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61238" y="1829029"/>
            <a:ext cx="685800" cy="593903"/>
            <a:chOff x="0" y="0"/>
            <a:chExt cx="914400" cy="7918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91540" y="1920240"/>
            <a:ext cx="411480" cy="411480"/>
            <a:chOff x="0" y="0"/>
            <a:chExt cx="548640" cy="548640"/>
          </a:xfrm>
        </p:grpSpPr>
        <p:sp>
          <p:nvSpPr>
            <p:cNvPr name="Freeform 34" id="34" descr="Lightbulb icon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14500" y="1829029"/>
            <a:ext cx="14401800" cy="754380"/>
            <a:chOff x="0" y="0"/>
            <a:chExt cx="19202400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202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920240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945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is already being done, and where it falls short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104138" y="2640559"/>
            <a:ext cx="15636240" cy="466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Existing methods, systems or alternatives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14400" cy="791870"/>
            </a:xfrm>
            <a:custGeom>
              <a:avLst/>
              <a:gdLst/>
              <a:ahLst/>
              <a:cxnLst/>
              <a:rect r="r" b="b" t="t" l="l"/>
              <a:pathLst>
                <a:path h="79187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91870"/>
                  </a:lnTo>
                  <a:lnTo>
                    <a:pt x="0" y="7918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110" t="0" r="-61110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914400" cy="820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52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303020" y="3250192"/>
            <a:ext cx="14664704" cy="466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Mixing chemical thickeners into water, tea, and juice to turn them into slow-moving gel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03020" y="3602617"/>
            <a:ext cx="8279308" cy="466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Manual physical exercises done on chair during therapy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03020" y="4012225"/>
            <a:ext cx="11755355" cy="466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Sticky electrode pads that shock the throat continuously with electrical currents.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04138" y="4536133"/>
            <a:ext cx="2627560" cy="466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Limitations of Each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45666" y="4945741"/>
            <a:ext cx="15153183" cy="466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Tastes unappealing; patients refuse to drink, leading to dangerous chronic dehydration and kidney failure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45666" y="5298166"/>
            <a:ext cx="14491717" cy="876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Manual exercises 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can only be done during therapy hours and cannot protect a patient while eating dinner at home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45666" y="6197727"/>
            <a:ext cx="14789958" cy="876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Shocks blindly without knowing when the patient wants to swallow which can shock opposing muscles and pull the throat downward into a choking posture.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97280" y="7093143"/>
            <a:ext cx="3444627" cy="466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Key Challenges and Gaps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03309" y="7502751"/>
            <a:ext cx="14464126" cy="876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 Real Time Synchronization: Not a single existing solution detects the patient’s instant of intention and coordinates the physical throat elevator at mealtime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47038" y="8381934"/>
            <a:ext cx="13186234" cy="876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24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Neglecting Neuroplasticity: </a:t>
            </a:r>
            <a:r>
              <a: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None of the current tools close the brain-to-muscle loop needed to trigger the brain to permanently rewire its lost swallowing pathways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60159" y="472916"/>
            <a:ext cx="1248727" cy="1248727"/>
            <a:chOff x="0" y="0"/>
            <a:chExt cx="1664970" cy="16649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4970" cy="1664970"/>
            </a:xfrm>
            <a:custGeom>
              <a:avLst/>
              <a:gdLst/>
              <a:ahLst/>
              <a:cxnLst/>
              <a:rect r="r" b="b" t="t" l="l"/>
              <a:pathLst>
                <a:path h="1664970" w="166497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1442974" y="0"/>
                  </a:lnTo>
                  <a:cubicBezTo>
                    <a:pt x="1565529" y="0"/>
                    <a:pt x="1664970" y="99441"/>
                    <a:pt x="1664970" y="221996"/>
                  </a:cubicBezTo>
                  <a:lnTo>
                    <a:pt x="1664970" y="1442974"/>
                  </a:lnTo>
                  <a:cubicBezTo>
                    <a:pt x="1664970" y="1565529"/>
                    <a:pt x="1565529" y="1664970"/>
                    <a:pt x="144297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583920" y="576072"/>
            <a:ext cx="801195" cy="1042416"/>
            <a:chOff x="0" y="0"/>
            <a:chExt cx="1068260" cy="1389888"/>
          </a:xfrm>
        </p:grpSpPr>
        <p:sp>
          <p:nvSpPr>
            <p:cNvPr name="Freeform 5" id="5" descr="Genesis logo"/>
            <p:cNvSpPr/>
            <p:nvPr/>
          </p:nvSpPr>
          <p:spPr>
            <a:xfrm flipH="false" flipV="false" rot="0">
              <a:off x="0" y="0"/>
              <a:ext cx="1068324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324">
                  <a:moveTo>
                    <a:pt x="0" y="0"/>
                  </a:moveTo>
                  <a:lnTo>
                    <a:pt x="1068324" y="0"/>
                  </a:lnTo>
                  <a:lnTo>
                    <a:pt x="1068324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32620"/>
            <a:ext cx="18287543" cy="754380"/>
            <a:chOff x="0" y="0"/>
            <a:chExt cx="24383390" cy="1005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336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52B3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429000" y="9532620"/>
            <a:ext cx="11429543" cy="754380"/>
            <a:chOff x="0" y="0"/>
            <a:chExt cx="1523939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39391" cy="1005840"/>
            </a:xfrm>
            <a:custGeom>
              <a:avLst/>
              <a:gdLst/>
              <a:ahLst/>
              <a:cxnLst/>
              <a:rect r="r" b="b" t="t" l="l"/>
              <a:pathLst>
                <a:path h="1005840" w="15239391">
                  <a:moveTo>
                    <a:pt x="0" y="0"/>
                  </a:moveTo>
                  <a:lnTo>
                    <a:pt x="15239391" y="0"/>
                  </a:lnTo>
                  <a:lnTo>
                    <a:pt x="1523939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216" r="0" b="-24521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523939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150">
                  <a:solidFill>
                    <a:srgbClr val="D3E6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Genesis Ideathon 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15903559" y="7017544"/>
            <a:ext cx="2161927" cy="1875473"/>
            <a:chOff x="0" y="0"/>
            <a:chExt cx="2882570" cy="25006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82519" cy="2500630"/>
            </a:xfrm>
            <a:custGeom>
              <a:avLst/>
              <a:gdLst/>
              <a:ahLst/>
              <a:cxnLst/>
              <a:rect r="r" b="b" t="t" l="l"/>
              <a:pathLst>
                <a:path h="2500630" w="2882519">
                  <a:moveTo>
                    <a:pt x="0" y="1250315"/>
                  </a:moveTo>
                  <a:lnTo>
                    <a:pt x="625094" y="0"/>
                  </a:lnTo>
                  <a:lnTo>
                    <a:pt x="2257425" y="0"/>
                  </a:lnTo>
                  <a:lnTo>
                    <a:pt x="2882519" y="1250315"/>
                  </a:lnTo>
                  <a:lnTo>
                    <a:pt x="2257425" y="2500630"/>
                  </a:lnTo>
                  <a:lnTo>
                    <a:pt x="625094" y="25006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04" t="0" r="-613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14613988" y="8011954"/>
            <a:ext cx="1449219" cy="1258252"/>
            <a:chOff x="0" y="0"/>
            <a:chExt cx="1932292" cy="16776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5400000">
            <a:off x="17357188" y="5748814"/>
            <a:ext cx="1449219" cy="1258252"/>
            <a:chOff x="0" y="0"/>
            <a:chExt cx="1932292" cy="16776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4869180" y="480060"/>
            <a:ext cx="11247120" cy="1234440"/>
            <a:chOff x="0" y="0"/>
            <a:chExt cx="14996160" cy="1645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996161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499616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 spc="150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PROBLEM INSIGHTS &amp; OPPORTUNITY AREAS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78656" y="472916"/>
            <a:ext cx="3923347" cy="1248727"/>
            <a:chOff x="0" y="0"/>
            <a:chExt cx="5231130" cy="16649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31130" cy="1664970"/>
            </a:xfrm>
            <a:custGeom>
              <a:avLst/>
              <a:gdLst/>
              <a:ahLst/>
              <a:cxnLst/>
              <a:rect r="r" b="b" t="t" l="l"/>
              <a:pathLst>
                <a:path h="1664970" w="523113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5009134" y="0"/>
                  </a:lnTo>
                  <a:cubicBezTo>
                    <a:pt x="5131689" y="0"/>
                    <a:pt x="5231130" y="99441"/>
                    <a:pt x="5231130" y="221996"/>
                  </a:cubicBezTo>
                  <a:lnTo>
                    <a:pt x="5231130" y="1442974"/>
                  </a:lnTo>
                  <a:cubicBezTo>
                    <a:pt x="5231130" y="1565529"/>
                    <a:pt x="5131689" y="1664970"/>
                    <a:pt x="500913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98112" y="678656"/>
            <a:ext cx="960692" cy="837248"/>
            <a:chOff x="0" y="0"/>
            <a:chExt cx="1280922" cy="11163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922" cy="1116330"/>
            </a:xfrm>
            <a:custGeom>
              <a:avLst/>
              <a:gdLst/>
              <a:ahLst/>
              <a:cxnLst/>
              <a:rect r="r" b="b" t="t" l="l"/>
              <a:pathLst>
                <a:path h="1116330" w="1280922">
                  <a:moveTo>
                    <a:pt x="0" y="558165"/>
                  </a:moveTo>
                  <a:lnTo>
                    <a:pt x="279019" y="0"/>
                  </a:lnTo>
                  <a:lnTo>
                    <a:pt x="1001776" y="0"/>
                  </a:lnTo>
                  <a:lnTo>
                    <a:pt x="1280922" y="558165"/>
                  </a:lnTo>
                  <a:lnTo>
                    <a:pt x="1001776" y="1116330"/>
                  </a:lnTo>
                  <a:lnTo>
                    <a:pt x="279019" y="1116330"/>
                  </a:lnTo>
                  <a:close/>
                </a:path>
              </a:pathLst>
            </a:custGeom>
            <a:solidFill>
              <a:srgbClr val="F3F8F5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04138" y="822960"/>
            <a:ext cx="548640" cy="548640"/>
            <a:chOff x="0" y="0"/>
            <a:chExt cx="731520" cy="731520"/>
          </a:xfrm>
        </p:grpSpPr>
        <p:sp>
          <p:nvSpPr>
            <p:cNvPr name="Freeform 27" id="27" descr="Team icon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057400" y="576072"/>
            <a:ext cx="2441448" cy="1042416"/>
            <a:chOff x="0" y="0"/>
            <a:chExt cx="3255264" cy="13898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55264" cy="1389888"/>
            </a:xfrm>
            <a:custGeom>
              <a:avLst/>
              <a:gdLst/>
              <a:ahLst/>
              <a:cxnLst/>
              <a:rect r="r" b="b" t="t" l="l"/>
              <a:pathLst>
                <a:path h="1389888" w="3255264">
                  <a:moveTo>
                    <a:pt x="0" y="0"/>
                  </a:moveTo>
                  <a:lnTo>
                    <a:pt x="3255264" y="0"/>
                  </a:lnTo>
                  <a:lnTo>
                    <a:pt x="3255264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81" t="0" r="-478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255264" cy="1418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449">
                  <a:solidFill>
                    <a:srgbClr val="5B6F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</a:t>
              </a:r>
            </a:p>
            <a:p>
              <a:pPr algn="l">
                <a:lnSpc>
                  <a:spcPts val="2700"/>
                </a:lnSpc>
              </a:pPr>
              <a:r>
                <a:rPr lang="en-US" b="true" sz="2250" spc="749">
                  <a:solidFill>
                    <a:srgbClr val="0268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JASMIN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92658" y="1778965"/>
            <a:ext cx="685800" cy="593903"/>
            <a:chOff x="0" y="0"/>
            <a:chExt cx="914400" cy="7918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29818" y="1869491"/>
            <a:ext cx="411480" cy="411480"/>
            <a:chOff x="0" y="0"/>
            <a:chExt cx="548640" cy="548640"/>
          </a:xfrm>
        </p:grpSpPr>
        <p:sp>
          <p:nvSpPr>
            <p:cNvPr name="Freeform 34" id="34" descr="Lightbulb icon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565924" y="1698727"/>
            <a:ext cx="14401800" cy="754380"/>
            <a:chOff x="0" y="0"/>
            <a:chExt cx="19202400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202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920240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945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Resources required to solve the problem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4400" cy="791870"/>
            </a:xfrm>
            <a:custGeom>
              <a:avLst/>
              <a:gdLst/>
              <a:ahLst/>
              <a:cxnLst/>
              <a:rect r="r" b="b" t="t" l="l"/>
              <a:pathLst>
                <a:path h="79187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91870"/>
                  </a:lnTo>
                  <a:lnTo>
                    <a:pt x="0" y="7918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110" t="0" r="-6111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8575"/>
              <a:ext cx="914400" cy="820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52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sp>
        <p:nvSpPr>
          <p:cNvPr name="AutoShape 41" id="41"/>
          <p:cNvSpPr/>
          <p:nvPr/>
        </p:nvSpPr>
        <p:spPr>
          <a:xfrm>
            <a:off x="8747774" y="2795397"/>
            <a:ext cx="0" cy="571586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2" id="42"/>
          <p:cNvSpPr txBox="true"/>
          <p:nvPr/>
        </p:nvSpPr>
        <p:spPr>
          <a:xfrm rot="0">
            <a:off x="3429000" y="2472157"/>
            <a:ext cx="2018676" cy="466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Hardware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086054" y="2647002"/>
            <a:ext cx="4934728" cy="459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9"/>
              </a:lnSpc>
            </a:pPr>
            <a:r>
              <a:rPr lang="en-US" sz="264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Software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16225" y="3120995"/>
            <a:ext cx="7965246" cy="4962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8383" indent="-274191" lvl="1">
              <a:lnSpc>
                <a:spcPts val="3047"/>
              </a:lnSpc>
              <a:buFont typeface="Arial"/>
              <a:buChar char="•"/>
            </a:pPr>
            <a:r>
              <a:rPr lang="en-US" b="true" sz="253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sEMG Electrodes</a:t>
            </a:r>
            <a:r>
              <a:rPr lang="en-US" sz="253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Detect muscle activity associated wit</a:t>
            </a:r>
            <a:r>
              <a:rPr lang="en-US" sz="253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 swallowing attempts.</a:t>
            </a:r>
          </a:p>
          <a:p>
            <a:pPr algn="l">
              <a:lnSpc>
                <a:spcPts val="1667"/>
              </a:lnSpc>
            </a:pPr>
          </a:p>
          <a:p>
            <a:pPr algn="l" marL="548383" indent="-274191" lvl="1">
              <a:lnSpc>
                <a:spcPts val="3047"/>
              </a:lnSpc>
              <a:buFont typeface="Arial"/>
              <a:buChar char="•"/>
            </a:pPr>
            <a:r>
              <a:rPr lang="en-US" b="true" sz="253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Acoustic Sensor</a:t>
            </a:r>
            <a:r>
              <a:rPr lang="en-US" sz="253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Captures vibrations produced during swallowing.</a:t>
            </a:r>
          </a:p>
          <a:p>
            <a:pPr algn="l">
              <a:lnSpc>
                <a:spcPts val="2012"/>
              </a:lnSpc>
            </a:pPr>
          </a:p>
          <a:p>
            <a:pPr algn="l" marL="548383" indent="-274191" lvl="1">
              <a:lnSpc>
                <a:spcPts val="3047"/>
              </a:lnSpc>
              <a:buFont typeface="Arial"/>
              <a:buChar char="•"/>
            </a:pPr>
            <a:r>
              <a:rPr lang="en-US" b="true" sz="253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Haptic Actuators</a:t>
            </a:r>
            <a:r>
              <a:rPr lang="en-US" sz="253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Deliver synchronized vibr</a:t>
            </a:r>
            <a:r>
              <a:rPr lang="en-US" sz="253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ation cues to support swallowing coordination.</a:t>
            </a:r>
          </a:p>
          <a:p>
            <a:pPr algn="l">
              <a:lnSpc>
                <a:spcPts val="1322"/>
              </a:lnSpc>
            </a:pPr>
          </a:p>
          <a:p>
            <a:pPr algn="l" marL="548383" indent="-274191" lvl="1">
              <a:lnSpc>
                <a:spcPts val="3047"/>
              </a:lnSpc>
              <a:buFont typeface="Arial"/>
              <a:buChar char="•"/>
            </a:pPr>
            <a:r>
              <a:rPr lang="en-US" b="true" sz="253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Microcontroller (MCU)</a:t>
            </a:r>
            <a:r>
              <a:rPr lang="en-US" sz="253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Processes sensor signals and controls the patch’s response.</a:t>
            </a:r>
          </a:p>
          <a:p>
            <a:pPr algn="l">
              <a:lnSpc>
                <a:spcPts val="977"/>
              </a:lnSpc>
            </a:pPr>
          </a:p>
          <a:p>
            <a:pPr algn="l" marL="548383" indent="-274191" lvl="1">
              <a:lnSpc>
                <a:spcPts val="3047"/>
              </a:lnSpc>
              <a:buFont typeface="Arial"/>
              <a:buChar char="•"/>
            </a:pPr>
            <a:r>
              <a:rPr lang="en-US" b="true" sz="253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Flexible Patch &amp; Battery</a:t>
            </a:r>
            <a:r>
              <a:rPr lang="en-US" sz="253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Enable comfortable, portable, skin-mounted operation.</a:t>
            </a:r>
          </a:p>
          <a:p>
            <a:pPr algn="l">
              <a:lnSpc>
                <a:spcPts val="3047"/>
              </a:lnSpc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9221783" y="3120995"/>
            <a:ext cx="7138376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3" indent="-237491" lvl="1">
              <a:lnSpc>
                <a:spcPts val="26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Low-Latency Embedded Firmware (RTOS): </a:t>
            </a:r>
            <a:r>
              <a:rPr lang="en-US" sz="2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For airway protection it guarantees sensor-to-haptic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187207" y="3854420"/>
            <a:ext cx="6859579" cy="990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3" indent="-226697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On-Device Edge AI (TinyML Classifier): 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lightweight neural network that detects swallowing while filtering other activities performed by throat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221783" y="4917029"/>
            <a:ext cx="6745941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3" indent="-237491" lvl="1">
              <a:lnSpc>
                <a:spcPts val="26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Real-Time Signal Processing (DSP):</a:t>
            </a:r>
            <a:r>
              <a:rPr lang="en-US" sz="2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Live filtering and noise removal for raw muscle (sEMG) 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268704" y="5650454"/>
            <a:ext cx="6617524" cy="990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3" indent="-226697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Phase-Locked Actuator Timing Engine: 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Firmware that synchronizes the haptic pulse to the exact millisecond the throat needs to lift and seal the windpipe.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268704" y="6650223"/>
            <a:ext cx="6617524" cy="1305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3" indent="-226697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Caregiver &amp; Clinician Mobile Dashboard: </a:t>
            </a:r>
            <a:r>
              <a:rPr lang="en-US" sz="21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HIPAA-compliant app tracking safe swallow counts, choke-risk alerts, and data to help doctors safely remove feeding tubes.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60159" y="211935"/>
            <a:ext cx="1248727" cy="1248727"/>
            <a:chOff x="0" y="0"/>
            <a:chExt cx="1664970" cy="16649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4970" cy="1664970"/>
            </a:xfrm>
            <a:custGeom>
              <a:avLst/>
              <a:gdLst/>
              <a:ahLst/>
              <a:cxnLst/>
              <a:rect r="r" b="b" t="t" l="l"/>
              <a:pathLst>
                <a:path h="1664970" w="166497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1442974" y="0"/>
                  </a:lnTo>
                  <a:cubicBezTo>
                    <a:pt x="1565529" y="0"/>
                    <a:pt x="1664970" y="99441"/>
                    <a:pt x="1664970" y="221996"/>
                  </a:cubicBezTo>
                  <a:lnTo>
                    <a:pt x="1664970" y="1442974"/>
                  </a:lnTo>
                  <a:cubicBezTo>
                    <a:pt x="1664970" y="1565529"/>
                    <a:pt x="1565529" y="1664970"/>
                    <a:pt x="144297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583920" y="315091"/>
            <a:ext cx="801195" cy="1042416"/>
            <a:chOff x="0" y="0"/>
            <a:chExt cx="1068260" cy="1389888"/>
          </a:xfrm>
        </p:grpSpPr>
        <p:sp>
          <p:nvSpPr>
            <p:cNvPr name="Freeform 5" id="5" descr="Genesis logo"/>
            <p:cNvSpPr/>
            <p:nvPr/>
          </p:nvSpPr>
          <p:spPr>
            <a:xfrm flipH="false" flipV="false" rot="0">
              <a:off x="0" y="0"/>
              <a:ext cx="1068324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324">
                  <a:moveTo>
                    <a:pt x="0" y="0"/>
                  </a:moveTo>
                  <a:lnTo>
                    <a:pt x="1068324" y="0"/>
                  </a:lnTo>
                  <a:lnTo>
                    <a:pt x="1068324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32620"/>
            <a:ext cx="18287543" cy="754380"/>
            <a:chOff x="0" y="0"/>
            <a:chExt cx="24383390" cy="1005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336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52B3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429000" y="9532620"/>
            <a:ext cx="11429543" cy="754380"/>
            <a:chOff x="0" y="0"/>
            <a:chExt cx="1523939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39391" cy="1005840"/>
            </a:xfrm>
            <a:custGeom>
              <a:avLst/>
              <a:gdLst/>
              <a:ahLst/>
              <a:cxnLst/>
              <a:rect r="r" b="b" t="t" l="l"/>
              <a:pathLst>
                <a:path h="1005840" w="15239391">
                  <a:moveTo>
                    <a:pt x="0" y="0"/>
                  </a:moveTo>
                  <a:lnTo>
                    <a:pt x="15239391" y="0"/>
                  </a:lnTo>
                  <a:lnTo>
                    <a:pt x="1523939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216" r="0" b="-24521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523939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150">
                  <a:solidFill>
                    <a:srgbClr val="D3E6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Genesis Ideathon 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15903559" y="7017544"/>
            <a:ext cx="2161927" cy="1875473"/>
            <a:chOff x="0" y="0"/>
            <a:chExt cx="2882570" cy="25006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82519" cy="2500630"/>
            </a:xfrm>
            <a:custGeom>
              <a:avLst/>
              <a:gdLst/>
              <a:ahLst/>
              <a:cxnLst/>
              <a:rect r="r" b="b" t="t" l="l"/>
              <a:pathLst>
                <a:path h="2500630" w="2882519">
                  <a:moveTo>
                    <a:pt x="0" y="1250315"/>
                  </a:moveTo>
                  <a:lnTo>
                    <a:pt x="625094" y="0"/>
                  </a:lnTo>
                  <a:lnTo>
                    <a:pt x="2257425" y="0"/>
                  </a:lnTo>
                  <a:lnTo>
                    <a:pt x="2882519" y="1250315"/>
                  </a:lnTo>
                  <a:lnTo>
                    <a:pt x="2257425" y="2500630"/>
                  </a:lnTo>
                  <a:lnTo>
                    <a:pt x="625094" y="25006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04" t="0" r="-613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14613988" y="8011954"/>
            <a:ext cx="1449219" cy="1258252"/>
            <a:chOff x="0" y="0"/>
            <a:chExt cx="1932292" cy="16776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5400000">
            <a:off x="17357188" y="5748814"/>
            <a:ext cx="1449219" cy="1258252"/>
            <a:chOff x="0" y="0"/>
            <a:chExt cx="1932292" cy="16776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4283698" y="226222"/>
            <a:ext cx="11247120" cy="1234440"/>
            <a:chOff x="0" y="0"/>
            <a:chExt cx="14996160" cy="1645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996161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499616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 spc="150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INITIAL DIRECTION &amp; EXPECTED OUTCOME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87184" y="211935"/>
            <a:ext cx="3923347" cy="1248727"/>
            <a:chOff x="0" y="0"/>
            <a:chExt cx="5231130" cy="16649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31130" cy="1664970"/>
            </a:xfrm>
            <a:custGeom>
              <a:avLst/>
              <a:gdLst/>
              <a:ahLst/>
              <a:cxnLst/>
              <a:rect r="r" b="b" t="t" l="l"/>
              <a:pathLst>
                <a:path h="1664970" w="523113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5009134" y="0"/>
                  </a:lnTo>
                  <a:cubicBezTo>
                    <a:pt x="5131689" y="0"/>
                    <a:pt x="5231130" y="99441"/>
                    <a:pt x="5231130" y="221996"/>
                  </a:cubicBezTo>
                  <a:lnTo>
                    <a:pt x="5231130" y="1442974"/>
                  </a:lnTo>
                  <a:cubicBezTo>
                    <a:pt x="5231130" y="1565529"/>
                    <a:pt x="5131689" y="1664970"/>
                    <a:pt x="500913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506640" y="417675"/>
            <a:ext cx="960692" cy="837248"/>
            <a:chOff x="0" y="0"/>
            <a:chExt cx="1280922" cy="11163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922" cy="1116330"/>
            </a:xfrm>
            <a:custGeom>
              <a:avLst/>
              <a:gdLst/>
              <a:ahLst/>
              <a:cxnLst/>
              <a:rect r="r" b="b" t="t" l="l"/>
              <a:pathLst>
                <a:path h="1116330" w="1280922">
                  <a:moveTo>
                    <a:pt x="0" y="558165"/>
                  </a:moveTo>
                  <a:lnTo>
                    <a:pt x="279019" y="0"/>
                  </a:lnTo>
                  <a:lnTo>
                    <a:pt x="1001776" y="0"/>
                  </a:lnTo>
                  <a:lnTo>
                    <a:pt x="1280922" y="558165"/>
                  </a:lnTo>
                  <a:lnTo>
                    <a:pt x="1001776" y="1116330"/>
                  </a:lnTo>
                  <a:lnTo>
                    <a:pt x="279019" y="1116330"/>
                  </a:lnTo>
                  <a:close/>
                </a:path>
              </a:pathLst>
            </a:custGeom>
            <a:solidFill>
              <a:srgbClr val="F3F8F5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712666" y="561979"/>
            <a:ext cx="548640" cy="548640"/>
            <a:chOff x="0" y="0"/>
            <a:chExt cx="731520" cy="731520"/>
          </a:xfrm>
        </p:grpSpPr>
        <p:sp>
          <p:nvSpPr>
            <p:cNvPr name="Freeform 27" id="27" descr="Team icon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665928" y="315091"/>
            <a:ext cx="2441448" cy="1042416"/>
            <a:chOff x="0" y="0"/>
            <a:chExt cx="3255264" cy="13898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55264" cy="1389888"/>
            </a:xfrm>
            <a:custGeom>
              <a:avLst/>
              <a:gdLst/>
              <a:ahLst/>
              <a:cxnLst/>
              <a:rect r="r" b="b" t="t" l="l"/>
              <a:pathLst>
                <a:path h="1389888" w="3255264">
                  <a:moveTo>
                    <a:pt x="0" y="0"/>
                  </a:moveTo>
                  <a:lnTo>
                    <a:pt x="3255264" y="0"/>
                  </a:lnTo>
                  <a:lnTo>
                    <a:pt x="3255264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81" t="0" r="-478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255264" cy="1418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449">
                  <a:solidFill>
                    <a:srgbClr val="5B6F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</a:t>
              </a:r>
            </a:p>
            <a:p>
              <a:pPr algn="l">
                <a:lnSpc>
                  <a:spcPts val="2700"/>
                </a:lnSpc>
              </a:pPr>
              <a:r>
                <a:rPr lang="en-US" b="true" sz="2250" spc="749">
                  <a:solidFill>
                    <a:srgbClr val="0268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JASMIN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12299" y="1791769"/>
            <a:ext cx="685800" cy="593903"/>
            <a:chOff x="0" y="0"/>
            <a:chExt cx="914400" cy="7918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49459" y="1882295"/>
            <a:ext cx="411480" cy="411480"/>
            <a:chOff x="0" y="0"/>
            <a:chExt cx="548640" cy="548640"/>
          </a:xfrm>
        </p:grpSpPr>
        <p:sp>
          <p:nvSpPr>
            <p:cNvPr name="Freeform 34" id="34" descr="Lightbulb icon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644987" y="1723189"/>
            <a:ext cx="14401800" cy="754380"/>
            <a:chOff x="0" y="0"/>
            <a:chExt cx="19202400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202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920240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945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Is Our Expected Outcome?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712666" y="2506144"/>
            <a:ext cx="465327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What our team intends to do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14400" cy="791870"/>
            </a:xfrm>
            <a:custGeom>
              <a:avLst/>
              <a:gdLst/>
              <a:ahLst/>
              <a:cxnLst/>
              <a:rect r="r" b="b" t="t" l="l"/>
              <a:pathLst>
                <a:path h="79187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91870"/>
                  </a:lnTo>
                  <a:lnTo>
                    <a:pt x="0" y="7918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110" t="0" r="-61110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914400" cy="820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52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7008854" y="2506144"/>
            <a:ext cx="3892077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What we aim to improve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154905" y="2420419"/>
            <a:ext cx="310913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>
                <a:solidFill>
                  <a:srgbClr val="0E2A2F"/>
                </a:solidFill>
                <a:latin typeface="Calibri (MS)"/>
                <a:ea typeface="Calibri (MS)"/>
                <a:cs typeface="Calibri (MS)"/>
                <a:sym typeface="Calibri (MS)"/>
              </a:rPr>
              <a:t>Expected Outcomes</a:t>
            </a:r>
          </a:p>
        </p:txBody>
      </p:sp>
      <p:sp>
        <p:nvSpPr>
          <p:cNvPr name="AutoShape 44" id="44"/>
          <p:cNvSpPr/>
          <p:nvPr/>
        </p:nvSpPr>
        <p:spPr>
          <a:xfrm>
            <a:off x="5964555" y="2477569"/>
            <a:ext cx="0" cy="571586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>
            <a:off x="11945230" y="2477569"/>
            <a:ext cx="0" cy="571586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6" id="46"/>
          <p:cNvSpPr txBox="true"/>
          <p:nvPr/>
        </p:nvSpPr>
        <p:spPr>
          <a:xfrm rot="0">
            <a:off x="712666" y="3020494"/>
            <a:ext cx="4867535" cy="401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Design a non-invasive skin mounted patch that would detect any swallowing attempts and provide timely assistance in accordance.</a:t>
            </a:r>
          </a:p>
          <a:p>
            <a:pPr algn="l" marL="518160" indent="-259080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To integrate a closed loop system by combining muscle activity sensing, real time signal processing and synchronized haptic simulation that would support swallowing coordination.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345555" y="3020494"/>
            <a:ext cx="4867535" cy="329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Investigate whether sensory cues that are precisely timed can improve coordination of throat movements during swallowing.</a:t>
            </a:r>
          </a:p>
          <a:p>
            <a:pPr algn="l" marL="518160" indent="-259080" lvl="1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Exploring safer ways to support eating and drinking for stroke survivors with swallowing difficulties under clinical supervision.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252040" y="3020494"/>
            <a:ext cx="4161682" cy="438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2" indent="-259081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functional prototype that detects swallowing-related signals.</a:t>
            </a:r>
          </a:p>
          <a:p>
            <a:pPr algn="l" marL="518162" indent="-259081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Timely, controlled haptic feedback triggered by detected events.</a:t>
            </a:r>
          </a:p>
          <a:p>
            <a:pPr algn="l" marL="518162" indent="-259081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monitoring dashboard displaying swallowing activity and alerts.</a:t>
            </a:r>
          </a:p>
          <a:p>
            <a:pPr algn="l" marL="518162" indent="-259081" lvl="1">
              <a:lnSpc>
                <a:spcPts val="2880"/>
              </a:lnSpc>
              <a:spcBef>
                <a:spcPct val="0"/>
              </a:spcBef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Preliminary performance data to guide further testing and improvement.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60159" y="472916"/>
            <a:ext cx="1248727" cy="1248727"/>
            <a:chOff x="0" y="0"/>
            <a:chExt cx="1664970" cy="16649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64970" cy="1664970"/>
            </a:xfrm>
            <a:custGeom>
              <a:avLst/>
              <a:gdLst/>
              <a:ahLst/>
              <a:cxnLst/>
              <a:rect r="r" b="b" t="t" l="l"/>
              <a:pathLst>
                <a:path h="1664970" w="166497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1442974" y="0"/>
                  </a:lnTo>
                  <a:cubicBezTo>
                    <a:pt x="1565529" y="0"/>
                    <a:pt x="1664970" y="99441"/>
                    <a:pt x="1664970" y="221996"/>
                  </a:cubicBezTo>
                  <a:lnTo>
                    <a:pt x="1664970" y="1442974"/>
                  </a:lnTo>
                  <a:cubicBezTo>
                    <a:pt x="1664970" y="1565529"/>
                    <a:pt x="1565529" y="1664970"/>
                    <a:pt x="144297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6583920" y="576072"/>
            <a:ext cx="801195" cy="1042416"/>
            <a:chOff x="0" y="0"/>
            <a:chExt cx="1068260" cy="1389888"/>
          </a:xfrm>
        </p:grpSpPr>
        <p:sp>
          <p:nvSpPr>
            <p:cNvPr name="Freeform 5" id="5" descr="Genesis logo"/>
            <p:cNvSpPr/>
            <p:nvPr/>
          </p:nvSpPr>
          <p:spPr>
            <a:xfrm flipH="false" flipV="false" rot="0">
              <a:off x="0" y="0"/>
              <a:ext cx="1068324" cy="1389888"/>
            </a:xfrm>
            <a:custGeom>
              <a:avLst/>
              <a:gdLst/>
              <a:ahLst/>
              <a:cxnLst/>
              <a:rect r="r" b="b" t="t" l="l"/>
              <a:pathLst>
                <a:path h="1389888" w="1068324">
                  <a:moveTo>
                    <a:pt x="0" y="0"/>
                  </a:moveTo>
                  <a:lnTo>
                    <a:pt x="1068324" y="0"/>
                  </a:lnTo>
                  <a:lnTo>
                    <a:pt x="1068324" y="1389888"/>
                  </a:lnTo>
                  <a:lnTo>
                    <a:pt x="0" y="138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32620"/>
            <a:ext cx="18287543" cy="754380"/>
            <a:chOff x="0" y="0"/>
            <a:chExt cx="24383390" cy="1005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3364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052B35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429000" y="9532620"/>
            <a:ext cx="11429543" cy="754380"/>
            <a:chOff x="0" y="0"/>
            <a:chExt cx="1523939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39391" cy="1005840"/>
            </a:xfrm>
            <a:custGeom>
              <a:avLst/>
              <a:gdLst/>
              <a:ahLst/>
              <a:cxnLst/>
              <a:rect r="r" b="b" t="t" l="l"/>
              <a:pathLst>
                <a:path h="1005840" w="15239391">
                  <a:moveTo>
                    <a:pt x="0" y="0"/>
                  </a:moveTo>
                  <a:lnTo>
                    <a:pt x="15239391" y="0"/>
                  </a:lnTo>
                  <a:lnTo>
                    <a:pt x="15239391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216" r="0" b="-24521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523939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spc="150">
                  <a:solidFill>
                    <a:srgbClr val="D3E6D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Genesis Ideathon – Pre-Ideathon Template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13" id="13"/>
          <p:cNvGrpSpPr/>
          <p:nvPr/>
        </p:nvGrpSpPr>
        <p:grpSpPr>
          <a:xfrm rot="5400000">
            <a:off x="15903559" y="7017544"/>
            <a:ext cx="2161927" cy="1875473"/>
            <a:chOff x="0" y="0"/>
            <a:chExt cx="2882570" cy="250063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82519" cy="2500630"/>
            </a:xfrm>
            <a:custGeom>
              <a:avLst/>
              <a:gdLst/>
              <a:ahLst/>
              <a:cxnLst/>
              <a:rect r="r" b="b" t="t" l="l"/>
              <a:pathLst>
                <a:path h="2500630" w="2882519">
                  <a:moveTo>
                    <a:pt x="0" y="1250315"/>
                  </a:moveTo>
                  <a:lnTo>
                    <a:pt x="625094" y="0"/>
                  </a:lnTo>
                  <a:lnTo>
                    <a:pt x="2257425" y="0"/>
                  </a:lnTo>
                  <a:lnTo>
                    <a:pt x="2882519" y="1250315"/>
                  </a:lnTo>
                  <a:lnTo>
                    <a:pt x="2257425" y="2500630"/>
                  </a:lnTo>
                  <a:lnTo>
                    <a:pt x="625094" y="25006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04" t="0" r="-613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5400000">
            <a:off x="14613988" y="8011954"/>
            <a:ext cx="1449219" cy="1258252"/>
            <a:chOff x="0" y="0"/>
            <a:chExt cx="1932292" cy="16776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5400000">
            <a:off x="17357188" y="5748814"/>
            <a:ext cx="1449219" cy="1258252"/>
            <a:chOff x="0" y="0"/>
            <a:chExt cx="1932292" cy="16776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32178" cy="1677670"/>
            </a:xfrm>
            <a:custGeom>
              <a:avLst/>
              <a:gdLst/>
              <a:ahLst/>
              <a:cxnLst/>
              <a:rect r="r" b="b" t="t" l="l"/>
              <a:pathLst>
                <a:path h="1677670" w="1932178">
                  <a:moveTo>
                    <a:pt x="0" y="838835"/>
                  </a:moveTo>
                  <a:lnTo>
                    <a:pt x="419354" y="0"/>
                  </a:lnTo>
                  <a:lnTo>
                    <a:pt x="1512824" y="0"/>
                  </a:lnTo>
                  <a:lnTo>
                    <a:pt x="1932178" y="838835"/>
                  </a:lnTo>
                  <a:lnTo>
                    <a:pt x="1512824" y="1677670"/>
                  </a:lnTo>
                  <a:lnTo>
                    <a:pt x="419354" y="16776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400" t="0" r="-61406" b="0"/>
              </a:stretch>
            </a:blipFill>
            <a:ln w="23812" cap="sq">
              <a:solidFill>
                <a:srgbClr val="4FA278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4869180" y="480060"/>
            <a:ext cx="11247120" cy="1234440"/>
            <a:chOff x="0" y="0"/>
            <a:chExt cx="14996160" cy="1645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996161" cy="1645920"/>
            </a:xfrm>
            <a:custGeom>
              <a:avLst/>
              <a:gdLst/>
              <a:ahLst/>
              <a:cxnLst/>
              <a:rect r="r" b="b" t="t" l="l"/>
              <a:pathLst>
                <a:path h="1645920" w="14996161">
                  <a:moveTo>
                    <a:pt x="0" y="0"/>
                  </a:moveTo>
                  <a:lnTo>
                    <a:pt x="14996161" y="0"/>
                  </a:lnTo>
                  <a:lnTo>
                    <a:pt x="14996161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530" r="0" b="-12753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14996160" cy="16649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 spc="150">
                  <a:solidFill>
                    <a:srgbClr val="052B3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TEAM CONTRIBUTION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78656" y="472916"/>
            <a:ext cx="3923347" cy="1248727"/>
            <a:chOff x="0" y="0"/>
            <a:chExt cx="5231130" cy="166497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31130" cy="1664970"/>
            </a:xfrm>
            <a:custGeom>
              <a:avLst/>
              <a:gdLst/>
              <a:ahLst/>
              <a:cxnLst/>
              <a:rect r="r" b="b" t="t" l="l"/>
              <a:pathLst>
                <a:path h="1664970" w="5231130">
                  <a:moveTo>
                    <a:pt x="0" y="221996"/>
                  </a:moveTo>
                  <a:cubicBezTo>
                    <a:pt x="0" y="99441"/>
                    <a:pt x="99441" y="0"/>
                    <a:pt x="221996" y="0"/>
                  </a:cubicBezTo>
                  <a:lnTo>
                    <a:pt x="5009134" y="0"/>
                  </a:lnTo>
                  <a:cubicBezTo>
                    <a:pt x="5131689" y="0"/>
                    <a:pt x="5231130" y="99441"/>
                    <a:pt x="5231130" y="221996"/>
                  </a:cubicBezTo>
                  <a:lnTo>
                    <a:pt x="5231130" y="1442974"/>
                  </a:lnTo>
                  <a:cubicBezTo>
                    <a:pt x="5231130" y="1565529"/>
                    <a:pt x="5131689" y="1664970"/>
                    <a:pt x="5009134" y="1664970"/>
                  </a:cubicBezTo>
                  <a:lnTo>
                    <a:pt x="221996" y="1664970"/>
                  </a:lnTo>
                  <a:cubicBezTo>
                    <a:pt x="99441" y="1664970"/>
                    <a:pt x="0" y="1565529"/>
                    <a:pt x="0" y="1442974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898112" y="678656"/>
            <a:ext cx="960692" cy="837248"/>
            <a:chOff x="0" y="0"/>
            <a:chExt cx="1280922" cy="111633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922" cy="1116330"/>
            </a:xfrm>
            <a:custGeom>
              <a:avLst/>
              <a:gdLst/>
              <a:ahLst/>
              <a:cxnLst/>
              <a:rect r="r" b="b" t="t" l="l"/>
              <a:pathLst>
                <a:path h="1116330" w="1280922">
                  <a:moveTo>
                    <a:pt x="0" y="558165"/>
                  </a:moveTo>
                  <a:lnTo>
                    <a:pt x="279019" y="0"/>
                  </a:lnTo>
                  <a:lnTo>
                    <a:pt x="1001776" y="0"/>
                  </a:lnTo>
                  <a:lnTo>
                    <a:pt x="1280922" y="558165"/>
                  </a:lnTo>
                  <a:lnTo>
                    <a:pt x="1001776" y="1116330"/>
                  </a:lnTo>
                  <a:lnTo>
                    <a:pt x="279019" y="1116330"/>
                  </a:lnTo>
                  <a:close/>
                </a:path>
              </a:pathLst>
            </a:custGeom>
            <a:solidFill>
              <a:srgbClr val="F3F8F5"/>
            </a:solidFill>
            <a:ln w="14288" cap="sq">
              <a:solidFill>
                <a:srgbClr val="D3E6DD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04138" y="822960"/>
            <a:ext cx="548640" cy="548640"/>
            <a:chOff x="0" y="0"/>
            <a:chExt cx="731520" cy="731520"/>
          </a:xfrm>
        </p:grpSpPr>
        <p:sp>
          <p:nvSpPr>
            <p:cNvPr name="Freeform 27" id="27" descr="Team icon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2057400" y="576072"/>
            <a:ext cx="2441448" cy="1042416"/>
            <a:chOff x="0" y="0"/>
            <a:chExt cx="3255264" cy="13898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255264" cy="1389888"/>
            </a:xfrm>
            <a:custGeom>
              <a:avLst/>
              <a:gdLst/>
              <a:ahLst/>
              <a:cxnLst/>
              <a:rect r="r" b="b" t="t" l="l"/>
              <a:pathLst>
                <a:path h="1389888" w="3255264">
                  <a:moveTo>
                    <a:pt x="0" y="0"/>
                  </a:moveTo>
                  <a:lnTo>
                    <a:pt x="3255264" y="0"/>
                  </a:lnTo>
                  <a:lnTo>
                    <a:pt x="3255264" y="1389888"/>
                  </a:lnTo>
                  <a:lnTo>
                    <a:pt x="0" y="1389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781" t="0" r="-478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255264" cy="14184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449">
                  <a:solidFill>
                    <a:srgbClr val="5B6F6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</a:t>
              </a:r>
            </a:p>
            <a:p>
              <a:pPr algn="l">
                <a:lnSpc>
                  <a:spcPts val="2700"/>
                </a:lnSpc>
              </a:pPr>
              <a:r>
                <a:rPr lang="en-US" b="true" sz="2250" spc="749">
                  <a:solidFill>
                    <a:srgbClr val="0268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JASMIN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22960" y="2194560"/>
            <a:ext cx="685800" cy="593903"/>
            <a:chOff x="0" y="0"/>
            <a:chExt cx="914400" cy="7918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791845"/>
            </a:xfrm>
            <a:custGeom>
              <a:avLst/>
              <a:gdLst/>
              <a:ahLst/>
              <a:cxnLst/>
              <a:rect r="r" b="b" t="t" l="l"/>
              <a:pathLst>
                <a:path h="791845" w="914400">
                  <a:moveTo>
                    <a:pt x="0" y="395986"/>
                  </a:moveTo>
                  <a:lnTo>
                    <a:pt x="197993" y="0"/>
                  </a:lnTo>
                  <a:lnTo>
                    <a:pt x="716407" y="0"/>
                  </a:lnTo>
                  <a:lnTo>
                    <a:pt x="914400" y="395986"/>
                  </a:lnTo>
                  <a:lnTo>
                    <a:pt x="716407" y="791845"/>
                  </a:lnTo>
                  <a:lnTo>
                    <a:pt x="197993" y="791845"/>
                  </a:lnTo>
                  <a:close/>
                </a:path>
              </a:pathLst>
            </a:custGeom>
            <a:solidFill>
              <a:srgbClr val="7AC143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60120" y="2285086"/>
            <a:ext cx="411480" cy="411480"/>
            <a:chOff x="0" y="0"/>
            <a:chExt cx="548640" cy="548640"/>
          </a:xfrm>
        </p:grpSpPr>
        <p:sp>
          <p:nvSpPr>
            <p:cNvPr name="Freeform 34" id="34" descr="Lightbulb icon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755648" y="2125980"/>
            <a:ext cx="14401800" cy="754380"/>
            <a:chOff x="0" y="0"/>
            <a:chExt cx="19202400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2024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987" r="0" b="-32198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9202400" cy="10629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9454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Who will handle which part of the execution</a:t>
              </a:r>
            </a:p>
          </p:txBody>
        </p:sp>
      </p:grpSp>
      <p:graphicFrame>
        <p:nvGraphicFramePr>
          <p:cNvPr name="Table 38" id="38"/>
          <p:cNvGraphicFramePr>
            <a:graphicFrameLocks noGrp="true"/>
          </p:cNvGraphicFramePr>
          <p:nvPr/>
        </p:nvGraphicFramePr>
        <p:xfrm>
          <a:off x="822960" y="3291840"/>
          <a:ext cx="16611600" cy="5600974"/>
        </p:xfrm>
        <a:graphic>
          <a:graphicData uri="http://schemas.openxmlformats.org/drawingml/2006/table">
            <a:tbl>
              <a:tblPr/>
              <a:tblGrid>
                <a:gridCol w="4523337"/>
                <a:gridCol w="3842282"/>
                <a:gridCol w="8245981"/>
              </a:tblGrid>
              <a:tr h="82082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Team Member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85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Role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85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Responsibility in Execution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6855"/>
                    </a:solidFill>
                  </a:tcPr>
                </a:tc>
              </a:tr>
              <a:tr h="111632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5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E2A2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MHALSA PADMAKUMAR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5B6F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Biomedical &amp; Clinical Lead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5B6F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Researches swallowing neuro-anatomy (hyolaryngeal elevation, SLN nerve pathways) and defines safety criteria for post-stroke patients.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11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5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E2A2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SHIZA CKV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5B6F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Signal Processing &amp; Edge-AI Lead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5B6F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Designs the intent-detection pipeline, filtering raw muscle signals (sEMG) to detect swallowing intent in under 15ms while rejecting coughs and speech.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1632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5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E2A2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ANWAIKA SANVI P T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5B6F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Hardware &amp; Haptics Architect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5B6F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Selects and integrates skin-safe sensors, flexible patch materials, and low-profile resonant haptic actuators for directional throat cueing.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1632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59"/>
                        </a:lnSpc>
                        <a:defRPr/>
                      </a:pPr>
                      <a:r>
                        <a:rPr lang="en-US" sz="2299" b="true">
                          <a:solidFill>
                            <a:srgbClr val="0E2A2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JOSHIKA CD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5B6F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Product Strategy &amp; Human-Centered Design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5B6F6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Focuses on patient dignity, form factor ergonomics and healthcare market sizing.</a:t>
                      </a:r>
                      <a:endParaRPr lang="en-US" sz="1100"/>
                    </a:p>
                  </a:txBody>
                  <a:tcPr marL="182880" marR="182880" marT="182880" marB="182880" anchor="ctr">
                    <a:lnL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3E6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39" id="39"/>
          <p:cNvGrpSpPr/>
          <p:nvPr/>
        </p:nvGrpSpPr>
        <p:grpSpPr>
          <a:xfrm rot="0">
            <a:off x="16888511" y="9614916"/>
            <a:ext cx="685800" cy="593903"/>
            <a:chOff x="0" y="0"/>
            <a:chExt cx="914400" cy="79187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14400" cy="791870"/>
            </a:xfrm>
            <a:custGeom>
              <a:avLst/>
              <a:gdLst/>
              <a:ahLst/>
              <a:cxnLst/>
              <a:rect r="r" b="b" t="t" l="l"/>
              <a:pathLst>
                <a:path h="79187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791870"/>
                  </a:lnTo>
                  <a:lnTo>
                    <a:pt x="0" y="7918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110" t="0" r="-61110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914400" cy="820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052B3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DAHXWWBCAf8</dc:identifier>
  <dcterms:modified xsi:type="dcterms:W3CDTF">2011-08-01T06:04:30Z</dcterms:modified>
  <cp:revision>1</cp:revision>
  <dc:title>Genesis_PreIdeathon_Template.pptx</dc:title>
</cp:coreProperties>
</file>